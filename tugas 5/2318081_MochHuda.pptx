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Body Grotesque Bold" charset="1" panose="02000503040000020004"/>
      <p:regular r:id="rId26"/>
    </p:embeddedFont>
    <p:embeddedFont>
      <p:font typeface="Body Grotesque" charset="1" panose="02000503040000020004"/>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4.png" Type="http://schemas.openxmlformats.org/officeDocument/2006/relationships/image"/><Relationship Id="rId4" Target="../media/image1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7.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8.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9.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0.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1109193" y="2686841"/>
            <a:ext cx="20309640" cy="8182259"/>
          </a:xfrm>
          <a:prstGeom prst="rect">
            <a:avLst/>
          </a:prstGeom>
        </p:spPr>
        <p:txBody>
          <a:bodyPr anchor="t" rtlCol="false" tIns="0" lIns="0" bIns="0" rIns="0">
            <a:spAutoFit/>
          </a:bodyPr>
          <a:lstStyle/>
          <a:p>
            <a:pPr algn="ctr">
              <a:lnSpc>
                <a:spcPts val="12761"/>
              </a:lnSpc>
            </a:pPr>
            <a:r>
              <a:rPr lang="en-US" sz="12761" b="true">
                <a:solidFill>
                  <a:srgbClr val="FFFFFF"/>
                </a:solidFill>
                <a:latin typeface="Body Grotesque Bold"/>
                <a:ea typeface="Body Grotesque Bold"/>
                <a:cs typeface="Body Grotesque Bold"/>
                <a:sym typeface="Body Grotesque Bold"/>
              </a:rPr>
              <a:t> Klasifikasi Citra Tumor Otak Menggunakan 1 Metode Naive Bayes</a:t>
            </a:r>
          </a:p>
          <a:p>
            <a:pPr algn="ctr">
              <a:lnSpc>
                <a:spcPts val="12761"/>
              </a:lnSpc>
            </a:pPr>
            <a:r>
              <a:rPr lang="en-US" sz="12761" b="true">
                <a:solidFill>
                  <a:srgbClr val="FFFFFF"/>
                </a:solidFill>
                <a:latin typeface="Body Grotesque Bold"/>
                <a:ea typeface="Body Grotesque Bold"/>
                <a:cs typeface="Body Grotesque Bold"/>
                <a:sym typeface="Body Grotesque Bold"/>
              </a:rPr>
              <a:t> 2026</a:t>
            </a:r>
          </a:p>
          <a:p>
            <a:pPr algn="ctr">
              <a:lnSpc>
                <a:spcPts val="12761"/>
              </a:lnSpc>
            </a:pPr>
          </a:p>
        </p:txBody>
      </p:sp>
      <p:grpSp>
        <p:nvGrpSpPr>
          <p:cNvPr name="Group 4" id="4"/>
          <p:cNvGrpSpPr/>
          <p:nvPr/>
        </p:nvGrpSpPr>
        <p:grpSpPr>
          <a:xfrm rot="0">
            <a:off x="780890" y="644750"/>
            <a:ext cx="16726220" cy="767901"/>
            <a:chOff x="0" y="0"/>
            <a:chExt cx="4405260" cy="202245"/>
          </a:xfrm>
        </p:grpSpPr>
        <p:sp>
          <p:nvSpPr>
            <p:cNvPr name="Freeform 5" id="5"/>
            <p:cNvSpPr/>
            <p:nvPr/>
          </p:nvSpPr>
          <p:spPr>
            <a:xfrm flipH="false" flipV="false" rot="0">
              <a:off x="0" y="0"/>
              <a:ext cx="4405260" cy="202245"/>
            </a:xfrm>
            <a:custGeom>
              <a:avLst/>
              <a:gdLst/>
              <a:ahLst/>
              <a:cxnLst/>
              <a:rect r="r" b="b" t="t" l="l"/>
              <a:pathLst>
                <a:path h="202245" w="4405260">
                  <a:moveTo>
                    <a:pt x="46286" y="0"/>
                  </a:moveTo>
                  <a:lnTo>
                    <a:pt x="4358974" y="0"/>
                  </a:lnTo>
                  <a:cubicBezTo>
                    <a:pt x="4384537" y="0"/>
                    <a:pt x="4405260" y="20723"/>
                    <a:pt x="4405260" y="46286"/>
                  </a:cubicBezTo>
                  <a:lnTo>
                    <a:pt x="4405260" y="155959"/>
                  </a:lnTo>
                  <a:cubicBezTo>
                    <a:pt x="4405260" y="168235"/>
                    <a:pt x="4400383" y="180008"/>
                    <a:pt x="4391703" y="188689"/>
                  </a:cubicBezTo>
                  <a:cubicBezTo>
                    <a:pt x="4383022" y="197369"/>
                    <a:pt x="4371249" y="202245"/>
                    <a:pt x="4358974" y="202245"/>
                  </a:cubicBezTo>
                  <a:lnTo>
                    <a:pt x="46286" y="202245"/>
                  </a:lnTo>
                  <a:cubicBezTo>
                    <a:pt x="20723" y="202245"/>
                    <a:pt x="0" y="181522"/>
                    <a:pt x="0" y="155959"/>
                  </a:cubicBezTo>
                  <a:lnTo>
                    <a:pt x="0" y="46286"/>
                  </a:lnTo>
                  <a:cubicBezTo>
                    <a:pt x="0" y="20723"/>
                    <a:pt x="20723" y="0"/>
                    <a:pt x="46286" y="0"/>
                  </a:cubicBezTo>
                  <a:close/>
                </a:path>
              </a:pathLst>
            </a:custGeom>
            <a:ln w="19050" cap="rnd">
              <a:solidFill>
                <a:srgbClr val="FFFFFF"/>
              </a:solidFill>
              <a:prstDash val="solid"/>
              <a:round/>
            </a:ln>
          </p:spPr>
        </p:sp>
        <p:sp>
          <p:nvSpPr>
            <p:cNvPr name="TextBox 6" id="6"/>
            <p:cNvSpPr txBox="true"/>
            <p:nvPr/>
          </p:nvSpPr>
          <p:spPr>
            <a:xfrm>
              <a:off x="0" y="-38100"/>
              <a:ext cx="4405260" cy="240345"/>
            </a:xfrm>
            <a:prstGeom prst="rect">
              <a:avLst/>
            </a:prstGeom>
          </p:spPr>
          <p:txBody>
            <a:bodyPr anchor="ctr" rtlCol="false" tIns="50800" lIns="50800" bIns="50800" rIns="50800"/>
            <a:lstStyle/>
            <a:p>
              <a:pPr algn="ctr">
                <a:lnSpc>
                  <a:spcPts val="3359"/>
                </a:lnSpc>
              </a:pPr>
            </a:p>
          </p:txBody>
        </p:sp>
      </p:grpSp>
      <p:sp>
        <p:nvSpPr>
          <p:cNvPr name="TextBox 7" id="7"/>
          <p:cNvSpPr txBox="true"/>
          <p:nvPr/>
        </p:nvSpPr>
        <p:spPr>
          <a:xfrm rot="0">
            <a:off x="6185632" y="840105"/>
            <a:ext cx="5916735" cy="396240"/>
          </a:xfrm>
          <a:prstGeom prst="rect">
            <a:avLst/>
          </a:prstGeom>
        </p:spPr>
        <p:txBody>
          <a:bodyPr anchor="t" rtlCol="false" tIns="0" lIns="0" bIns="0" rIns="0">
            <a:spAutoFit/>
          </a:bodyPr>
          <a:lstStyle/>
          <a:p>
            <a:pPr algn="ctr">
              <a:lnSpc>
                <a:spcPts val="3359"/>
              </a:lnSpc>
            </a:pPr>
            <a:r>
              <a:rPr lang="en-US" sz="2400" spc="96">
                <a:solidFill>
                  <a:srgbClr val="FFFFFF"/>
                </a:solidFill>
                <a:latin typeface="Body Grotesque"/>
                <a:ea typeface="Body Grotesque"/>
                <a:cs typeface="Body Grotesque"/>
                <a:sym typeface="Body Grotesque"/>
              </a:rPr>
              <a:t>MOCH. HUDA / 2318081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4E94B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alphaModFix amt="50000"/>
            </a:blip>
            <a:stretch>
              <a:fillRect l="0" t="-9222" r="0" b="-9222"/>
            </a:stretch>
          </a:blipFill>
        </p:spPr>
      </p:sp>
      <p:grpSp>
        <p:nvGrpSpPr>
          <p:cNvPr name="Group 3" id="3"/>
          <p:cNvGrpSpPr/>
          <p:nvPr/>
        </p:nvGrpSpPr>
        <p:grpSpPr>
          <a:xfrm rot="0">
            <a:off x="780890" y="644750"/>
            <a:ext cx="16726220" cy="2824589"/>
            <a:chOff x="0" y="0"/>
            <a:chExt cx="4405260" cy="743925"/>
          </a:xfrm>
        </p:grpSpPr>
        <p:sp>
          <p:nvSpPr>
            <p:cNvPr name="Freeform 4" id="4"/>
            <p:cNvSpPr/>
            <p:nvPr/>
          </p:nvSpPr>
          <p:spPr>
            <a:xfrm flipH="false" flipV="false" rot="0">
              <a:off x="0" y="0"/>
              <a:ext cx="4405260" cy="743925"/>
            </a:xfrm>
            <a:custGeom>
              <a:avLst/>
              <a:gdLst/>
              <a:ahLst/>
              <a:cxnLst/>
              <a:rect r="r" b="b" t="t" l="l"/>
              <a:pathLst>
                <a:path h="743925" w="4405260">
                  <a:moveTo>
                    <a:pt x="46286" y="0"/>
                  </a:moveTo>
                  <a:lnTo>
                    <a:pt x="4358974" y="0"/>
                  </a:lnTo>
                  <a:cubicBezTo>
                    <a:pt x="4384537" y="0"/>
                    <a:pt x="4405260" y="20723"/>
                    <a:pt x="4405260" y="46286"/>
                  </a:cubicBezTo>
                  <a:lnTo>
                    <a:pt x="4405260" y="697639"/>
                  </a:lnTo>
                  <a:cubicBezTo>
                    <a:pt x="4405260" y="723202"/>
                    <a:pt x="4384537" y="743925"/>
                    <a:pt x="4358974" y="743925"/>
                  </a:cubicBezTo>
                  <a:lnTo>
                    <a:pt x="46286" y="743925"/>
                  </a:lnTo>
                  <a:cubicBezTo>
                    <a:pt x="20723" y="743925"/>
                    <a:pt x="0" y="723202"/>
                    <a:pt x="0" y="697639"/>
                  </a:cubicBezTo>
                  <a:lnTo>
                    <a:pt x="0" y="46286"/>
                  </a:lnTo>
                  <a:cubicBezTo>
                    <a:pt x="0" y="20723"/>
                    <a:pt x="20723" y="0"/>
                    <a:pt x="46286" y="0"/>
                  </a:cubicBezTo>
                  <a:close/>
                </a:path>
              </a:pathLst>
            </a:custGeom>
            <a:ln w="19050" cap="rnd">
              <a:solidFill>
                <a:srgbClr val="FFFFFF"/>
              </a:solidFill>
              <a:prstDash val="solid"/>
              <a:round/>
            </a:ln>
          </p:spPr>
        </p:sp>
        <p:sp>
          <p:nvSpPr>
            <p:cNvPr name="TextBox 5" id="5"/>
            <p:cNvSpPr txBox="true"/>
            <p:nvPr/>
          </p:nvSpPr>
          <p:spPr>
            <a:xfrm>
              <a:off x="0" y="-38100"/>
              <a:ext cx="4405260" cy="782025"/>
            </a:xfrm>
            <a:prstGeom prst="rect">
              <a:avLst/>
            </a:prstGeom>
          </p:spPr>
          <p:txBody>
            <a:bodyPr anchor="ctr" rtlCol="false" tIns="50800" lIns="50800" bIns="50800" rIns="50800"/>
            <a:lstStyle/>
            <a:p>
              <a:pPr algn="ctr">
                <a:lnSpc>
                  <a:spcPts val="3359"/>
                </a:lnSpc>
              </a:pPr>
            </a:p>
          </p:txBody>
        </p:sp>
      </p:grpSp>
      <p:sp>
        <p:nvSpPr>
          <p:cNvPr name="Freeform 6" id="6"/>
          <p:cNvSpPr/>
          <p:nvPr/>
        </p:nvSpPr>
        <p:spPr>
          <a:xfrm flipH="false" flipV="false" rot="0">
            <a:off x="4454088" y="3584135"/>
            <a:ext cx="9379823" cy="3044835"/>
          </a:xfrm>
          <a:custGeom>
            <a:avLst/>
            <a:gdLst/>
            <a:ahLst/>
            <a:cxnLst/>
            <a:rect r="r" b="b" t="t" l="l"/>
            <a:pathLst>
              <a:path h="3044835" w="9379823">
                <a:moveTo>
                  <a:pt x="0" y="0"/>
                </a:moveTo>
                <a:lnTo>
                  <a:pt x="9379824" y="0"/>
                </a:lnTo>
                <a:lnTo>
                  <a:pt x="9379824" y="3044835"/>
                </a:lnTo>
                <a:lnTo>
                  <a:pt x="0" y="3044835"/>
                </a:lnTo>
                <a:lnTo>
                  <a:pt x="0" y="0"/>
                </a:lnTo>
                <a:close/>
              </a:path>
            </a:pathLst>
          </a:custGeom>
          <a:blipFill>
            <a:blip r:embed="rId3"/>
            <a:stretch>
              <a:fillRect l="0" t="0" r="0" b="0"/>
            </a:stretch>
          </a:blipFill>
        </p:spPr>
      </p:sp>
      <p:sp>
        <p:nvSpPr>
          <p:cNvPr name="TextBox 7" id="7"/>
          <p:cNvSpPr txBox="true"/>
          <p:nvPr/>
        </p:nvSpPr>
        <p:spPr>
          <a:xfrm rot="0">
            <a:off x="5271074" y="1281075"/>
            <a:ext cx="7934044" cy="1885314"/>
          </a:xfrm>
          <a:prstGeom prst="rect">
            <a:avLst/>
          </a:prstGeom>
        </p:spPr>
        <p:txBody>
          <a:bodyPr anchor="t" rtlCol="false" tIns="0" lIns="0" bIns="0" rIns="0">
            <a:spAutoFit/>
          </a:bodyPr>
          <a:lstStyle/>
          <a:p>
            <a:pPr algn="ctr">
              <a:lnSpc>
                <a:spcPts val="7039"/>
              </a:lnSpc>
            </a:pPr>
            <a:r>
              <a:rPr lang="en-US" b="true" sz="8799">
                <a:solidFill>
                  <a:srgbClr val="FFFFFF"/>
                </a:solidFill>
                <a:latin typeface="Body Grotesque Bold"/>
                <a:ea typeface="Body Grotesque Bold"/>
                <a:cs typeface="Body Grotesque Bold"/>
                <a:sym typeface="Body Grotesque Bold"/>
              </a:rPr>
              <a:t>Import Library</a:t>
            </a:r>
          </a:p>
        </p:txBody>
      </p:sp>
      <p:sp>
        <p:nvSpPr>
          <p:cNvPr name="TextBox 8" id="8"/>
          <p:cNvSpPr txBox="true"/>
          <p:nvPr/>
        </p:nvSpPr>
        <p:spPr>
          <a:xfrm rot="0">
            <a:off x="1028700" y="6677091"/>
            <a:ext cx="16230600" cy="3804285"/>
          </a:xfrm>
          <a:prstGeom prst="rect">
            <a:avLst/>
          </a:prstGeom>
        </p:spPr>
        <p:txBody>
          <a:bodyPr anchor="t" rtlCol="false" tIns="0" lIns="0" bIns="0" rIns="0">
            <a:spAutoFit/>
          </a:bodyPr>
          <a:lstStyle/>
          <a:p>
            <a:pPr algn="just">
              <a:lnSpc>
                <a:spcPts val="5040"/>
              </a:lnSpc>
            </a:pPr>
            <a:r>
              <a:rPr lang="en-US" sz="3600" b="true">
                <a:solidFill>
                  <a:srgbClr val="FFFFFF"/>
                </a:solidFill>
                <a:latin typeface="Body Grotesque Bold"/>
                <a:ea typeface="Body Grotesque Bold"/>
                <a:cs typeface="Body Grotesque Bold"/>
                <a:sym typeface="Body Grotesque Bold"/>
              </a:rPr>
              <a:t>Pada tahap ini dilakukan proses import berbagai library yang dibutuhkan dalam analisis data dan pembangunan model machine learning, seperti pandas dan numpy untuk pengolahan data, seaborn dan matplotlib untuk visualisasi, serta library dari sklearn yang digunakan untuk proses preprocessing, pemodelan Naive Bayes, dan evaluasi model.</a:t>
            </a:r>
          </a:p>
          <a:p>
            <a:pPr algn="just">
              <a:lnSpc>
                <a:spcPts val="5040"/>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4E94B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alphaModFix amt="50000"/>
            </a:blip>
            <a:stretch>
              <a:fillRect l="0" t="-9222" r="0" b="-9222"/>
            </a:stretch>
          </a:blipFill>
        </p:spPr>
      </p:sp>
      <p:grpSp>
        <p:nvGrpSpPr>
          <p:cNvPr name="Group 3" id="3"/>
          <p:cNvGrpSpPr/>
          <p:nvPr/>
        </p:nvGrpSpPr>
        <p:grpSpPr>
          <a:xfrm rot="0">
            <a:off x="780890" y="644750"/>
            <a:ext cx="16726220" cy="2824589"/>
            <a:chOff x="0" y="0"/>
            <a:chExt cx="4405260" cy="743925"/>
          </a:xfrm>
        </p:grpSpPr>
        <p:sp>
          <p:nvSpPr>
            <p:cNvPr name="Freeform 4" id="4"/>
            <p:cNvSpPr/>
            <p:nvPr/>
          </p:nvSpPr>
          <p:spPr>
            <a:xfrm flipH="false" flipV="false" rot="0">
              <a:off x="0" y="0"/>
              <a:ext cx="4405260" cy="743925"/>
            </a:xfrm>
            <a:custGeom>
              <a:avLst/>
              <a:gdLst/>
              <a:ahLst/>
              <a:cxnLst/>
              <a:rect r="r" b="b" t="t" l="l"/>
              <a:pathLst>
                <a:path h="743925" w="4405260">
                  <a:moveTo>
                    <a:pt x="46286" y="0"/>
                  </a:moveTo>
                  <a:lnTo>
                    <a:pt x="4358974" y="0"/>
                  </a:lnTo>
                  <a:cubicBezTo>
                    <a:pt x="4384537" y="0"/>
                    <a:pt x="4405260" y="20723"/>
                    <a:pt x="4405260" y="46286"/>
                  </a:cubicBezTo>
                  <a:lnTo>
                    <a:pt x="4405260" y="697639"/>
                  </a:lnTo>
                  <a:cubicBezTo>
                    <a:pt x="4405260" y="723202"/>
                    <a:pt x="4384537" y="743925"/>
                    <a:pt x="4358974" y="743925"/>
                  </a:cubicBezTo>
                  <a:lnTo>
                    <a:pt x="46286" y="743925"/>
                  </a:lnTo>
                  <a:cubicBezTo>
                    <a:pt x="20723" y="743925"/>
                    <a:pt x="0" y="723202"/>
                    <a:pt x="0" y="697639"/>
                  </a:cubicBezTo>
                  <a:lnTo>
                    <a:pt x="0" y="46286"/>
                  </a:lnTo>
                  <a:cubicBezTo>
                    <a:pt x="0" y="20723"/>
                    <a:pt x="20723" y="0"/>
                    <a:pt x="46286" y="0"/>
                  </a:cubicBezTo>
                  <a:close/>
                </a:path>
              </a:pathLst>
            </a:custGeom>
            <a:ln w="19050" cap="rnd">
              <a:solidFill>
                <a:srgbClr val="FFFFFF"/>
              </a:solidFill>
              <a:prstDash val="solid"/>
              <a:round/>
            </a:ln>
          </p:spPr>
        </p:sp>
        <p:sp>
          <p:nvSpPr>
            <p:cNvPr name="TextBox 5" id="5"/>
            <p:cNvSpPr txBox="true"/>
            <p:nvPr/>
          </p:nvSpPr>
          <p:spPr>
            <a:xfrm>
              <a:off x="0" y="-38100"/>
              <a:ext cx="4405260" cy="782025"/>
            </a:xfrm>
            <a:prstGeom prst="rect">
              <a:avLst/>
            </a:prstGeom>
          </p:spPr>
          <p:txBody>
            <a:bodyPr anchor="ctr" rtlCol="false" tIns="50800" lIns="50800" bIns="50800" rIns="50800"/>
            <a:lstStyle/>
            <a:p>
              <a:pPr algn="ctr">
                <a:lnSpc>
                  <a:spcPts val="3359"/>
                </a:lnSpc>
              </a:pPr>
            </a:p>
          </p:txBody>
        </p:sp>
      </p:grpSp>
      <p:sp>
        <p:nvSpPr>
          <p:cNvPr name="Freeform 6" id="6"/>
          <p:cNvSpPr/>
          <p:nvPr/>
        </p:nvSpPr>
        <p:spPr>
          <a:xfrm flipH="false" flipV="false" rot="0">
            <a:off x="3862655" y="4002665"/>
            <a:ext cx="10562690" cy="2207775"/>
          </a:xfrm>
          <a:custGeom>
            <a:avLst/>
            <a:gdLst/>
            <a:ahLst/>
            <a:cxnLst/>
            <a:rect r="r" b="b" t="t" l="l"/>
            <a:pathLst>
              <a:path h="2207775" w="10562690">
                <a:moveTo>
                  <a:pt x="0" y="0"/>
                </a:moveTo>
                <a:lnTo>
                  <a:pt x="10562690" y="0"/>
                </a:lnTo>
                <a:lnTo>
                  <a:pt x="10562690" y="2207775"/>
                </a:lnTo>
                <a:lnTo>
                  <a:pt x="0" y="2207775"/>
                </a:lnTo>
                <a:lnTo>
                  <a:pt x="0" y="0"/>
                </a:lnTo>
                <a:close/>
              </a:path>
            </a:pathLst>
          </a:custGeom>
          <a:blipFill>
            <a:blip r:embed="rId3"/>
            <a:stretch>
              <a:fillRect l="0" t="0" r="0" b="0"/>
            </a:stretch>
          </a:blipFill>
        </p:spPr>
      </p:sp>
      <p:sp>
        <p:nvSpPr>
          <p:cNvPr name="TextBox 7" id="7"/>
          <p:cNvSpPr txBox="true"/>
          <p:nvPr/>
        </p:nvSpPr>
        <p:spPr>
          <a:xfrm rot="0">
            <a:off x="5271074" y="1281075"/>
            <a:ext cx="7934044" cy="1885314"/>
          </a:xfrm>
          <a:prstGeom prst="rect">
            <a:avLst/>
          </a:prstGeom>
        </p:spPr>
        <p:txBody>
          <a:bodyPr anchor="t" rtlCol="false" tIns="0" lIns="0" bIns="0" rIns="0">
            <a:spAutoFit/>
          </a:bodyPr>
          <a:lstStyle/>
          <a:p>
            <a:pPr algn="ctr">
              <a:lnSpc>
                <a:spcPts val="7039"/>
              </a:lnSpc>
            </a:pPr>
            <a:r>
              <a:rPr lang="en-US" b="true" sz="8799">
                <a:solidFill>
                  <a:srgbClr val="FFFFFF"/>
                </a:solidFill>
                <a:latin typeface="Body Grotesque Bold"/>
                <a:ea typeface="Body Grotesque Bold"/>
                <a:cs typeface="Body Grotesque Bold"/>
                <a:sym typeface="Body Grotesque Bold"/>
              </a:rPr>
              <a:t>Connect Google Drive</a:t>
            </a:r>
          </a:p>
        </p:txBody>
      </p:sp>
      <p:sp>
        <p:nvSpPr>
          <p:cNvPr name="TextBox 8" id="8"/>
          <p:cNvSpPr txBox="true"/>
          <p:nvPr/>
        </p:nvSpPr>
        <p:spPr>
          <a:xfrm rot="0">
            <a:off x="1028700" y="6677091"/>
            <a:ext cx="16230600" cy="2527935"/>
          </a:xfrm>
          <a:prstGeom prst="rect">
            <a:avLst/>
          </a:prstGeom>
        </p:spPr>
        <p:txBody>
          <a:bodyPr anchor="t" rtlCol="false" tIns="0" lIns="0" bIns="0" rIns="0">
            <a:spAutoFit/>
          </a:bodyPr>
          <a:lstStyle/>
          <a:p>
            <a:pPr algn="just">
              <a:lnSpc>
                <a:spcPts val="5040"/>
              </a:lnSpc>
            </a:pPr>
            <a:r>
              <a:rPr lang="en-US" sz="3600" b="true">
                <a:solidFill>
                  <a:srgbClr val="FFFFFF"/>
                </a:solidFill>
                <a:latin typeface="Body Grotesque Bold"/>
                <a:ea typeface="Body Grotesque Bold"/>
                <a:cs typeface="Body Grotesque Bold"/>
                <a:sym typeface="Body Grotesque Bold"/>
              </a:rPr>
              <a:t>Tahap ini bertujuan untuk menghubungkan Google Colab dengan Google Drive agar dataset yang tersimpan di dalam Drive dapat diakses secara langsung, serta memudahkan dalam penyimpanan hasil analisis ke dalam folder yang telah ditentukan.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4E94B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alphaModFix amt="50000"/>
            </a:blip>
            <a:stretch>
              <a:fillRect l="0" t="-9222" r="0" b="-9222"/>
            </a:stretch>
          </a:blipFill>
        </p:spPr>
      </p:sp>
      <p:grpSp>
        <p:nvGrpSpPr>
          <p:cNvPr name="Group 3" id="3"/>
          <p:cNvGrpSpPr/>
          <p:nvPr/>
        </p:nvGrpSpPr>
        <p:grpSpPr>
          <a:xfrm rot="0">
            <a:off x="780890" y="644750"/>
            <a:ext cx="16726220" cy="2824589"/>
            <a:chOff x="0" y="0"/>
            <a:chExt cx="4405260" cy="743925"/>
          </a:xfrm>
        </p:grpSpPr>
        <p:sp>
          <p:nvSpPr>
            <p:cNvPr name="Freeform 4" id="4"/>
            <p:cNvSpPr/>
            <p:nvPr/>
          </p:nvSpPr>
          <p:spPr>
            <a:xfrm flipH="false" flipV="false" rot="0">
              <a:off x="0" y="0"/>
              <a:ext cx="4405260" cy="743925"/>
            </a:xfrm>
            <a:custGeom>
              <a:avLst/>
              <a:gdLst/>
              <a:ahLst/>
              <a:cxnLst/>
              <a:rect r="r" b="b" t="t" l="l"/>
              <a:pathLst>
                <a:path h="743925" w="4405260">
                  <a:moveTo>
                    <a:pt x="46286" y="0"/>
                  </a:moveTo>
                  <a:lnTo>
                    <a:pt x="4358974" y="0"/>
                  </a:lnTo>
                  <a:cubicBezTo>
                    <a:pt x="4384537" y="0"/>
                    <a:pt x="4405260" y="20723"/>
                    <a:pt x="4405260" y="46286"/>
                  </a:cubicBezTo>
                  <a:lnTo>
                    <a:pt x="4405260" y="697639"/>
                  </a:lnTo>
                  <a:cubicBezTo>
                    <a:pt x="4405260" y="723202"/>
                    <a:pt x="4384537" y="743925"/>
                    <a:pt x="4358974" y="743925"/>
                  </a:cubicBezTo>
                  <a:lnTo>
                    <a:pt x="46286" y="743925"/>
                  </a:lnTo>
                  <a:cubicBezTo>
                    <a:pt x="20723" y="743925"/>
                    <a:pt x="0" y="723202"/>
                    <a:pt x="0" y="697639"/>
                  </a:cubicBezTo>
                  <a:lnTo>
                    <a:pt x="0" y="46286"/>
                  </a:lnTo>
                  <a:cubicBezTo>
                    <a:pt x="0" y="20723"/>
                    <a:pt x="20723" y="0"/>
                    <a:pt x="46286" y="0"/>
                  </a:cubicBezTo>
                  <a:close/>
                </a:path>
              </a:pathLst>
            </a:custGeom>
            <a:ln w="19050" cap="rnd">
              <a:solidFill>
                <a:srgbClr val="FFFFFF"/>
              </a:solidFill>
              <a:prstDash val="solid"/>
              <a:round/>
            </a:ln>
          </p:spPr>
        </p:sp>
        <p:sp>
          <p:nvSpPr>
            <p:cNvPr name="TextBox 5" id="5"/>
            <p:cNvSpPr txBox="true"/>
            <p:nvPr/>
          </p:nvSpPr>
          <p:spPr>
            <a:xfrm>
              <a:off x="0" y="-38100"/>
              <a:ext cx="4405260" cy="782025"/>
            </a:xfrm>
            <a:prstGeom prst="rect">
              <a:avLst/>
            </a:prstGeom>
          </p:spPr>
          <p:txBody>
            <a:bodyPr anchor="ctr" rtlCol="false" tIns="50800" lIns="50800" bIns="50800" rIns="50800"/>
            <a:lstStyle/>
            <a:p>
              <a:pPr algn="ctr">
                <a:lnSpc>
                  <a:spcPts val="3359"/>
                </a:lnSpc>
              </a:pPr>
            </a:p>
          </p:txBody>
        </p:sp>
      </p:grpSp>
      <p:sp>
        <p:nvSpPr>
          <p:cNvPr name="Freeform 6" id="6"/>
          <p:cNvSpPr/>
          <p:nvPr/>
        </p:nvSpPr>
        <p:spPr>
          <a:xfrm flipH="false" flipV="false" rot="0">
            <a:off x="1028700" y="4542216"/>
            <a:ext cx="16230600" cy="825722"/>
          </a:xfrm>
          <a:custGeom>
            <a:avLst/>
            <a:gdLst/>
            <a:ahLst/>
            <a:cxnLst/>
            <a:rect r="r" b="b" t="t" l="l"/>
            <a:pathLst>
              <a:path h="825722" w="16230600">
                <a:moveTo>
                  <a:pt x="0" y="0"/>
                </a:moveTo>
                <a:lnTo>
                  <a:pt x="16230600" y="0"/>
                </a:lnTo>
                <a:lnTo>
                  <a:pt x="16230600" y="825722"/>
                </a:lnTo>
                <a:lnTo>
                  <a:pt x="0" y="825722"/>
                </a:lnTo>
                <a:lnTo>
                  <a:pt x="0" y="0"/>
                </a:lnTo>
                <a:close/>
              </a:path>
            </a:pathLst>
          </a:custGeom>
          <a:blipFill>
            <a:blip r:embed="rId3"/>
            <a:stretch>
              <a:fillRect l="0" t="0" r="0" b="0"/>
            </a:stretch>
          </a:blipFill>
        </p:spPr>
      </p:sp>
      <p:sp>
        <p:nvSpPr>
          <p:cNvPr name="TextBox 7" id="7"/>
          <p:cNvSpPr txBox="true"/>
          <p:nvPr/>
        </p:nvSpPr>
        <p:spPr>
          <a:xfrm rot="0">
            <a:off x="5271074" y="1281075"/>
            <a:ext cx="7934044" cy="1885314"/>
          </a:xfrm>
          <a:prstGeom prst="rect">
            <a:avLst/>
          </a:prstGeom>
        </p:spPr>
        <p:txBody>
          <a:bodyPr anchor="t" rtlCol="false" tIns="0" lIns="0" bIns="0" rIns="0">
            <a:spAutoFit/>
          </a:bodyPr>
          <a:lstStyle/>
          <a:p>
            <a:pPr algn="ctr">
              <a:lnSpc>
                <a:spcPts val="7039"/>
              </a:lnSpc>
            </a:pPr>
            <a:r>
              <a:rPr lang="en-US" b="true" sz="8799">
                <a:solidFill>
                  <a:srgbClr val="FFFFFF"/>
                </a:solidFill>
                <a:latin typeface="Body Grotesque Bold"/>
                <a:ea typeface="Body Grotesque Bold"/>
                <a:cs typeface="Body Grotesque Bold"/>
                <a:sym typeface="Body Grotesque Bold"/>
              </a:rPr>
              <a:t>Cek Path Dataset</a:t>
            </a:r>
          </a:p>
        </p:txBody>
      </p:sp>
      <p:sp>
        <p:nvSpPr>
          <p:cNvPr name="TextBox 8" id="8"/>
          <p:cNvSpPr txBox="true"/>
          <p:nvPr/>
        </p:nvSpPr>
        <p:spPr>
          <a:xfrm rot="0">
            <a:off x="1028700" y="6213331"/>
            <a:ext cx="16230600" cy="2527935"/>
          </a:xfrm>
          <a:prstGeom prst="rect">
            <a:avLst/>
          </a:prstGeom>
        </p:spPr>
        <p:txBody>
          <a:bodyPr anchor="t" rtlCol="false" tIns="0" lIns="0" bIns="0" rIns="0">
            <a:spAutoFit/>
          </a:bodyPr>
          <a:lstStyle/>
          <a:p>
            <a:pPr algn="just">
              <a:lnSpc>
                <a:spcPts val="5040"/>
              </a:lnSpc>
            </a:pPr>
            <a:r>
              <a:rPr lang="en-US" sz="3600" b="true">
                <a:solidFill>
                  <a:srgbClr val="FFFFFF"/>
                </a:solidFill>
                <a:latin typeface="Body Grotesque Bold"/>
                <a:ea typeface="Body Grotesque Bold"/>
                <a:cs typeface="Body Grotesque Bold"/>
                <a:sym typeface="Body Grotesque Bold"/>
              </a:rPr>
              <a:t>Pada tahap ini dilakukan pengecekan terhadap lokasi penyimpanan dataset untuk memastikan bahwa file yang akan digunakan tersedia pada direktori yang benar, sehingga dapat menghindari kesalahan seperti file tidak ditemukan saat proses pemanggilan data.</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4E94B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alphaModFix amt="50000"/>
            </a:blip>
            <a:stretch>
              <a:fillRect l="0" t="-9222" r="0" b="-9222"/>
            </a:stretch>
          </a:blipFill>
        </p:spPr>
      </p:sp>
      <p:grpSp>
        <p:nvGrpSpPr>
          <p:cNvPr name="Group 3" id="3"/>
          <p:cNvGrpSpPr/>
          <p:nvPr/>
        </p:nvGrpSpPr>
        <p:grpSpPr>
          <a:xfrm rot="0">
            <a:off x="780890" y="644750"/>
            <a:ext cx="16726220" cy="2824589"/>
            <a:chOff x="0" y="0"/>
            <a:chExt cx="4405260" cy="743925"/>
          </a:xfrm>
        </p:grpSpPr>
        <p:sp>
          <p:nvSpPr>
            <p:cNvPr name="Freeform 4" id="4"/>
            <p:cNvSpPr/>
            <p:nvPr/>
          </p:nvSpPr>
          <p:spPr>
            <a:xfrm flipH="false" flipV="false" rot="0">
              <a:off x="0" y="0"/>
              <a:ext cx="4405260" cy="743925"/>
            </a:xfrm>
            <a:custGeom>
              <a:avLst/>
              <a:gdLst/>
              <a:ahLst/>
              <a:cxnLst/>
              <a:rect r="r" b="b" t="t" l="l"/>
              <a:pathLst>
                <a:path h="743925" w="4405260">
                  <a:moveTo>
                    <a:pt x="46286" y="0"/>
                  </a:moveTo>
                  <a:lnTo>
                    <a:pt x="4358974" y="0"/>
                  </a:lnTo>
                  <a:cubicBezTo>
                    <a:pt x="4384537" y="0"/>
                    <a:pt x="4405260" y="20723"/>
                    <a:pt x="4405260" y="46286"/>
                  </a:cubicBezTo>
                  <a:lnTo>
                    <a:pt x="4405260" y="697639"/>
                  </a:lnTo>
                  <a:cubicBezTo>
                    <a:pt x="4405260" y="723202"/>
                    <a:pt x="4384537" y="743925"/>
                    <a:pt x="4358974" y="743925"/>
                  </a:cubicBezTo>
                  <a:lnTo>
                    <a:pt x="46286" y="743925"/>
                  </a:lnTo>
                  <a:cubicBezTo>
                    <a:pt x="20723" y="743925"/>
                    <a:pt x="0" y="723202"/>
                    <a:pt x="0" y="697639"/>
                  </a:cubicBezTo>
                  <a:lnTo>
                    <a:pt x="0" y="46286"/>
                  </a:lnTo>
                  <a:cubicBezTo>
                    <a:pt x="0" y="20723"/>
                    <a:pt x="20723" y="0"/>
                    <a:pt x="46286" y="0"/>
                  </a:cubicBezTo>
                  <a:close/>
                </a:path>
              </a:pathLst>
            </a:custGeom>
            <a:ln w="19050" cap="rnd">
              <a:solidFill>
                <a:srgbClr val="FFFFFF"/>
              </a:solidFill>
              <a:prstDash val="solid"/>
              <a:round/>
            </a:ln>
          </p:spPr>
        </p:sp>
        <p:sp>
          <p:nvSpPr>
            <p:cNvPr name="TextBox 5" id="5"/>
            <p:cNvSpPr txBox="true"/>
            <p:nvPr/>
          </p:nvSpPr>
          <p:spPr>
            <a:xfrm>
              <a:off x="0" y="-38100"/>
              <a:ext cx="4405260" cy="782025"/>
            </a:xfrm>
            <a:prstGeom prst="rect">
              <a:avLst/>
            </a:prstGeom>
          </p:spPr>
          <p:txBody>
            <a:bodyPr anchor="ctr" rtlCol="false" tIns="50800" lIns="50800" bIns="50800" rIns="50800"/>
            <a:lstStyle/>
            <a:p>
              <a:pPr algn="ctr">
                <a:lnSpc>
                  <a:spcPts val="3359"/>
                </a:lnSpc>
              </a:pPr>
            </a:p>
          </p:txBody>
        </p:sp>
      </p:grpSp>
      <p:sp>
        <p:nvSpPr>
          <p:cNvPr name="Freeform 6" id="6"/>
          <p:cNvSpPr/>
          <p:nvPr/>
        </p:nvSpPr>
        <p:spPr>
          <a:xfrm flipH="false" flipV="false" rot="0">
            <a:off x="1028700" y="3917332"/>
            <a:ext cx="16230600" cy="2330877"/>
          </a:xfrm>
          <a:custGeom>
            <a:avLst/>
            <a:gdLst/>
            <a:ahLst/>
            <a:cxnLst/>
            <a:rect r="r" b="b" t="t" l="l"/>
            <a:pathLst>
              <a:path h="2330877" w="16230600">
                <a:moveTo>
                  <a:pt x="0" y="0"/>
                </a:moveTo>
                <a:lnTo>
                  <a:pt x="16230600" y="0"/>
                </a:lnTo>
                <a:lnTo>
                  <a:pt x="16230600" y="2330876"/>
                </a:lnTo>
                <a:lnTo>
                  <a:pt x="0" y="2330876"/>
                </a:lnTo>
                <a:lnTo>
                  <a:pt x="0" y="0"/>
                </a:lnTo>
                <a:close/>
              </a:path>
            </a:pathLst>
          </a:custGeom>
          <a:blipFill>
            <a:blip r:embed="rId3"/>
            <a:stretch>
              <a:fillRect l="0" t="0" r="0" b="0"/>
            </a:stretch>
          </a:blipFill>
        </p:spPr>
      </p:sp>
      <p:sp>
        <p:nvSpPr>
          <p:cNvPr name="TextBox 7" id="7"/>
          <p:cNvSpPr txBox="true"/>
          <p:nvPr/>
        </p:nvSpPr>
        <p:spPr>
          <a:xfrm rot="0">
            <a:off x="5271074" y="1281075"/>
            <a:ext cx="7934044" cy="1885314"/>
          </a:xfrm>
          <a:prstGeom prst="rect">
            <a:avLst/>
          </a:prstGeom>
        </p:spPr>
        <p:txBody>
          <a:bodyPr anchor="t" rtlCol="false" tIns="0" lIns="0" bIns="0" rIns="0">
            <a:spAutoFit/>
          </a:bodyPr>
          <a:lstStyle/>
          <a:p>
            <a:pPr algn="ctr">
              <a:lnSpc>
                <a:spcPts val="7039"/>
              </a:lnSpc>
            </a:pPr>
            <a:r>
              <a:rPr lang="en-US" b="true" sz="8799">
                <a:solidFill>
                  <a:srgbClr val="FFFFFF"/>
                </a:solidFill>
                <a:latin typeface="Body Grotesque Bold"/>
                <a:ea typeface="Body Grotesque Bold"/>
                <a:cs typeface="Body Grotesque Bold"/>
                <a:sym typeface="Body Grotesque Bold"/>
              </a:rPr>
              <a:t>Eksplorasi Data</a:t>
            </a:r>
          </a:p>
        </p:txBody>
      </p:sp>
      <p:sp>
        <p:nvSpPr>
          <p:cNvPr name="TextBox 8" id="8"/>
          <p:cNvSpPr txBox="true"/>
          <p:nvPr/>
        </p:nvSpPr>
        <p:spPr>
          <a:xfrm rot="0">
            <a:off x="1028700" y="6629526"/>
            <a:ext cx="16230600" cy="2527935"/>
          </a:xfrm>
          <a:prstGeom prst="rect">
            <a:avLst/>
          </a:prstGeom>
        </p:spPr>
        <p:txBody>
          <a:bodyPr anchor="t" rtlCol="false" tIns="0" lIns="0" bIns="0" rIns="0">
            <a:spAutoFit/>
          </a:bodyPr>
          <a:lstStyle/>
          <a:p>
            <a:pPr algn="just">
              <a:lnSpc>
                <a:spcPts val="5040"/>
              </a:lnSpc>
            </a:pPr>
            <a:r>
              <a:rPr lang="en-US" sz="3600" b="true">
                <a:solidFill>
                  <a:srgbClr val="FFFFFF"/>
                </a:solidFill>
                <a:latin typeface="Body Grotesque Bold"/>
                <a:ea typeface="Body Grotesque Bold"/>
                <a:cs typeface="Body Grotesque Bold"/>
                <a:sym typeface="Body Grotesque Bold"/>
              </a:rPr>
              <a:t>Tahap eksplorasi data dilakukan untuk memahami karakteristik dataset, seperti melihat beberapa data awal, mengetahui tipe data setiap kolom, mengecek adanya missing value, serta melihat statistik deskriptif guna memahami distribusi data secara umum.</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4E94B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alphaModFix amt="50000"/>
            </a:blip>
            <a:stretch>
              <a:fillRect l="0" t="-9222" r="0" b="-9222"/>
            </a:stretch>
          </a:blipFill>
        </p:spPr>
      </p:sp>
      <p:grpSp>
        <p:nvGrpSpPr>
          <p:cNvPr name="Group 3" id="3"/>
          <p:cNvGrpSpPr/>
          <p:nvPr/>
        </p:nvGrpSpPr>
        <p:grpSpPr>
          <a:xfrm rot="0">
            <a:off x="780890" y="644750"/>
            <a:ext cx="16726220" cy="2824589"/>
            <a:chOff x="0" y="0"/>
            <a:chExt cx="4405260" cy="743925"/>
          </a:xfrm>
        </p:grpSpPr>
        <p:sp>
          <p:nvSpPr>
            <p:cNvPr name="Freeform 4" id="4"/>
            <p:cNvSpPr/>
            <p:nvPr/>
          </p:nvSpPr>
          <p:spPr>
            <a:xfrm flipH="false" flipV="false" rot="0">
              <a:off x="0" y="0"/>
              <a:ext cx="4405260" cy="743925"/>
            </a:xfrm>
            <a:custGeom>
              <a:avLst/>
              <a:gdLst/>
              <a:ahLst/>
              <a:cxnLst/>
              <a:rect r="r" b="b" t="t" l="l"/>
              <a:pathLst>
                <a:path h="743925" w="4405260">
                  <a:moveTo>
                    <a:pt x="46286" y="0"/>
                  </a:moveTo>
                  <a:lnTo>
                    <a:pt x="4358974" y="0"/>
                  </a:lnTo>
                  <a:cubicBezTo>
                    <a:pt x="4384537" y="0"/>
                    <a:pt x="4405260" y="20723"/>
                    <a:pt x="4405260" y="46286"/>
                  </a:cubicBezTo>
                  <a:lnTo>
                    <a:pt x="4405260" y="697639"/>
                  </a:lnTo>
                  <a:cubicBezTo>
                    <a:pt x="4405260" y="723202"/>
                    <a:pt x="4384537" y="743925"/>
                    <a:pt x="4358974" y="743925"/>
                  </a:cubicBezTo>
                  <a:lnTo>
                    <a:pt x="46286" y="743925"/>
                  </a:lnTo>
                  <a:cubicBezTo>
                    <a:pt x="20723" y="743925"/>
                    <a:pt x="0" y="723202"/>
                    <a:pt x="0" y="697639"/>
                  </a:cubicBezTo>
                  <a:lnTo>
                    <a:pt x="0" y="46286"/>
                  </a:lnTo>
                  <a:cubicBezTo>
                    <a:pt x="0" y="20723"/>
                    <a:pt x="20723" y="0"/>
                    <a:pt x="46286" y="0"/>
                  </a:cubicBezTo>
                  <a:close/>
                </a:path>
              </a:pathLst>
            </a:custGeom>
            <a:ln w="19050" cap="rnd">
              <a:solidFill>
                <a:srgbClr val="FFFFFF"/>
              </a:solidFill>
              <a:prstDash val="solid"/>
              <a:round/>
            </a:ln>
          </p:spPr>
        </p:sp>
        <p:sp>
          <p:nvSpPr>
            <p:cNvPr name="TextBox 5" id="5"/>
            <p:cNvSpPr txBox="true"/>
            <p:nvPr/>
          </p:nvSpPr>
          <p:spPr>
            <a:xfrm>
              <a:off x="0" y="-38100"/>
              <a:ext cx="4405260" cy="782025"/>
            </a:xfrm>
            <a:prstGeom prst="rect">
              <a:avLst/>
            </a:prstGeom>
          </p:spPr>
          <p:txBody>
            <a:bodyPr anchor="ctr" rtlCol="false" tIns="50800" lIns="50800" bIns="50800" rIns="50800"/>
            <a:lstStyle/>
            <a:p>
              <a:pPr algn="ctr">
                <a:lnSpc>
                  <a:spcPts val="3359"/>
                </a:lnSpc>
              </a:pPr>
            </a:p>
          </p:txBody>
        </p:sp>
      </p:grpSp>
      <p:sp>
        <p:nvSpPr>
          <p:cNvPr name="Freeform 6" id="6"/>
          <p:cNvSpPr/>
          <p:nvPr/>
        </p:nvSpPr>
        <p:spPr>
          <a:xfrm flipH="false" flipV="false" rot="0">
            <a:off x="1028700" y="4005841"/>
            <a:ext cx="16230600" cy="2275318"/>
          </a:xfrm>
          <a:custGeom>
            <a:avLst/>
            <a:gdLst/>
            <a:ahLst/>
            <a:cxnLst/>
            <a:rect r="r" b="b" t="t" l="l"/>
            <a:pathLst>
              <a:path h="2275318" w="16230600">
                <a:moveTo>
                  <a:pt x="0" y="0"/>
                </a:moveTo>
                <a:lnTo>
                  <a:pt x="16230600" y="0"/>
                </a:lnTo>
                <a:lnTo>
                  <a:pt x="16230600" y="2275318"/>
                </a:lnTo>
                <a:lnTo>
                  <a:pt x="0" y="2275318"/>
                </a:lnTo>
                <a:lnTo>
                  <a:pt x="0" y="0"/>
                </a:lnTo>
                <a:close/>
              </a:path>
            </a:pathLst>
          </a:custGeom>
          <a:blipFill>
            <a:blip r:embed="rId3"/>
            <a:stretch>
              <a:fillRect l="0" t="0" r="0" b="0"/>
            </a:stretch>
          </a:blipFill>
        </p:spPr>
      </p:sp>
      <p:sp>
        <p:nvSpPr>
          <p:cNvPr name="TextBox 7" id="7"/>
          <p:cNvSpPr txBox="true"/>
          <p:nvPr/>
        </p:nvSpPr>
        <p:spPr>
          <a:xfrm rot="0">
            <a:off x="5271074" y="1281075"/>
            <a:ext cx="7934044" cy="1885314"/>
          </a:xfrm>
          <a:prstGeom prst="rect">
            <a:avLst/>
          </a:prstGeom>
        </p:spPr>
        <p:txBody>
          <a:bodyPr anchor="t" rtlCol="false" tIns="0" lIns="0" bIns="0" rIns="0">
            <a:spAutoFit/>
          </a:bodyPr>
          <a:lstStyle/>
          <a:p>
            <a:pPr algn="ctr">
              <a:lnSpc>
                <a:spcPts val="7039"/>
              </a:lnSpc>
            </a:pPr>
            <a:r>
              <a:rPr lang="en-US" b="true" sz="8799">
                <a:solidFill>
                  <a:srgbClr val="FFFFFF"/>
                </a:solidFill>
                <a:latin typeface="Body Grotesque Bold"/>
                <a:ea typeface="Body Grotesque Bold"/>
                <a:cs typeface="Body Grotesque Bold"/>
                <a:sym typeface="Body Grotesque Bold"/>
              </a:rPr>
              <a:t>Preprocessing (Scaling)</a:t>
            </a:r>
          </a:p>
        </p:txBody>
      </p:sp>
      <p:sp>
        <p:nvSpPr>
          <p:cNvPr name="TextBox 8" id="8"/>
          <p:cNvSpPr txBox="true"/>
          <p:nvPr/>
        </p:nvSpPr>
        <p:spPr>
          <a:xfrm rot="0">
            <a:off x="1028700" y="6677091"/>
            <a:ext cx="16230600" cy="2527935"/>
          </a:xfrm>
          <a:prstGeom prst="rect">
            <a:avLst/>
          </a:prstGeom>
        </p:spPr>
        <p:txBody>
          <a:bodyPr anchor="t" rtlCol="false" tIns="0" lIns="0" bIns="0" rIns="0">
            <a:spAutoFit/>
          </a:bodyPr>
          <a:lstStyle/>
          <a:p>
            <a:pPr algn="just">
              <a:lnSpc>
                <a:spcPts val="5040"/>
              </a:lnSpc>
            </a:pPr>
            <a:r>
              <a:rPr lang="en-US" sz="3600" b="true">
                <a:solidFill>
                  <a:srgbClr val="FFFFFF"/>
                </a:solidFill>
                <a:latin typeface="Body Grotesque Bold"/>
                <a:ea typeface="Body Grotesque Bold"/>
                <a:cs typeface="Body Grotesque Bold"/>
                <a:sym typeface="Body Grotesque Bold"/>
              </a:rPr>
              <a:t>Pada tahap ini dilakukan normalisasi data menggunakan StandardScaler untuk menyamakan skala antar fitur numerik, sehingga setiap fitur memiliki distribusi yang seimbang dan tidak saling mendominasi dalam proses pembelajaran model.</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4E94B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alphaModFix amt="50000"/>
            </a:blip>
            <a:stretch>
              <a:fillRect l="0" t="-9222" r="0" b="-9222"/>
            </a:stretch>
          </a:blipFill>
        </p:spPr>
      </p:sp>
      <p:grpSp>
        <p:nvGrpSpPr>
          <p:cNvPr name="Group 3" id="3"/>
          <p:cNvGrpSpPr/>
          <p:nvPr/>
        </p:nvGrpSpPr>
        <p:grpSpPr>
          <a:xfrm rot="0">
            <a:off x="780890" y="644750"/>
            <a:ext cx="16726220" cy="2824589"/>
            <a:chOff x="0" y="0"/>
            <a:chExt cx="4405260" cy="743925"/>
          </a:xfrm>
        </p:grpSpPr>
        <p:sp>
          <p:nvSpPr>
            <p:cNvPr name="Freeform 4" id="4"/>
            <p:cNvSpPr/>
            <p:nvPr/>
          </p:nvSpPr>
          <p:spPr>
            <a:xfrm flipH="false" flipV="false" rot="0">
              <a:off x="0" y="0"/>
              <a:ext cx="4405260" cy="743925"/>
            </a:xfrm>
            <a:custGeom>
              <a:avLst/>
              <a:gdLst/>
              <a:ahLst/>
              <a:cxnLst/>
              <a:rect r="r" b="b" t="t" l="l"/>
              <a:pathLst>
                <a:path h="743925" w="4405260">
                  <a:moveTo>
                    <a:pt x="46286" y="0"/>
                  </a:moveTo>
                  <a:lnTo>
                    <a:pt x="4358974" y="0"/>
                  </a:lnTo>
                  <a:cubicBezTo>
                    <a:pt x="4384537" y="0"/>
                    <a:pt x="4405260" y="20723"/>
                    <a:pt x="4405260" y="46286"/>
                  </a:cubicBezTo>
                  <a:lnTo>
                    <a:pt x="4405260" y="697639"/>
                  </a:lnTo>
                  <a:cubicBezTo>
                    <a:pt x="4405260" y="723202"/>
                    <a:pt x="4384537" y="743925"/>
                    <a:pt x="4358974" y="743925"/>
                  </a:cubicBezTo>
                  <a:lnTo>
                    <a:pt x="46286" y="743925"/>
                  </a:lnTo>
                  <a:cubicBezTo>
                    <a:pt x="20723" y="743925"/>
                    <a:pt x="0" y="723202"/>
                    <a:pt x="0" y="697639"/>
                  </a:cubicBezTo>
                  <a:lnTo>
                    <a:pt x="0" y="46286"/>
                  </a:lnTo>
                  <a:cubicBezTo>
                    <a:pt x="0" y="20723"/>
                    <a:pt x="20723" y="0"/>
                    <a:pt x="46286" y="0"/>
                  </a:cubicBezTo>
                  <a:close/>
                </a:path>
              </a:pathLst>
            </a:custGeom>
            <a:ln w="19050" cap="rnd">
              <a:solidFill>
                <a:srgbClr val="FFFFFF"/>
              </a:solidFill>
              <a:prstDash val="solid"/>
              <a:round/>
            </a:ln>
          </p:spPr>
        </p:sp>
        <p:sp>
          <p:nvSpPr>
            <p:cNvPr name="TextBox 5" id="5"/>
            <p:cNvSpPr txBox="true"/>
            <p:nvPr/>
          </p:nvSpPr>
          <p:spPr>
            <a:xfrm>
              <a:off x="0" y="-38100"/>
              <a:ext cx="4405260" cy="782025"/>
            </a:xfrm>
            <a:prstGeom prst="rect">
              <a:avLst/>
            </a:prstGeom>
          </p:spPr>
          <p:txBody>
            <a:bodyPr anchor="ctr" rtlCol="false" tIns="50800" lIns="50800" bIns="50800" rIns="50800"/>
            <a:lstStyle/>
            <a:p>
              <a:pPr algn="ctr">
                <a:lnSpc>
                  <a:spcPts val="3359"/>
                </a:lnSpc>
              </a:pPr>
            </a:p>
          </p:txBody>
        </p:sp>
      </p:grpSp>
      <p:sp>
        <p:nvSpPr>
          <p:cNvPr name="Freeform 6" id="6"/>
          <p:cNvSpPr/>
          <p:nvPr/>
        </p:nvSpPr>
        <p:spPr>
          <a:xfrm flipH="false" flipV="false" rot="0">
            <a:off x="5658273" y="3671150"/>
            <a:ext cx="7159646" cy="3362425"/>
          </a:xfrm>
          <a:custGeom>
            <a:avLst/>
            <a:gdLst/>
            <a:ahLst/>
            <a:cxnLst/>
            <a:rect r="r" b="b" t="t" l="l"/>
            <a:pathLst>
              <a:path h="3362425" w="7159646">
                <a:moveTo>
                  <a:pt x="0" y="0"/>
                </a:moveTo>
                <a:lnTo>
                  <a:pt x="7159646" y="0"/>
                </a:lnTo>
                <a:lnTo>
                  <a:pt x="7159646" y="3362425"/>
                </a:lnTo>
                <a:lnTo>
                  <a:pt x="0" y="3362425"/>
                </a:lnTo>
                <a:lnTo>
                  <a:pt x="0" y="0"/>
                </a:lnTo>
                <a:close/>
              </a:path>
            </a:pathLst>
          </a:custGeom>
          <a:blipFill>
            <a:blip r:embed="rId3"/>
            <a:stretch>
              <a:fillRect l="0" t="0" r="0" b="0"/>
            </a:stretch>
          </a:blipFill>
        </p:spPr>
      </p:sp>
      <p:sp>
        <p:nvSpPr>
          <p:cNvPr name="TextBox 7" id="7"/>
          <p:cNvSpPr txBox="true"/>
          <p:nvPr/>
        </p:nvSpPr>
        <p:spPr>
          <a:xfrm rot="0">
            <a:off x="5271074" y="1281075"/>
            <a:ext cx="7934044" cy="1885314"/>
          </a:xfrm>
          <a:prstGeom prst="rect">
            <a:avLst/>
          </a:prstGeom>
        </p:spPr>
        <p:txBody>
          <a:bodyPr anchor="t" rtlCol="false" tIns="0" lIns="0" bIns="0" rIns="0">
            <a:spAutoFit/>
          </a:bodyPr>
          <a:lstStyle/>
          <a:p>
            <a:pPr algn="ctr">
              <a:lnSpc>
                <a:spcPts val="7039"/>
              </a:lnSpc>
            </a:pPr>
            <a:r>
              <a:rPr lang="en-US" b="true" sz="8799">
                <a:solidFill>
                  <a:srgbClr val="FFFFFF"/>
                </a:solidFill>
                <a:latin typeface="Body Grotesque Bold"/>
                <a:ea typeface="Body Grotesque Bold"/>
                <a:cs typeface="Body Grotesque Bold"/>
                <a:sym typeface="Body Grotesque Bold"/>
              </a:rPr>
              <a:t>Visualisasi Data</a:t>
            </a:r>
          </a:p>
        </p:txBody>
      </p:sp>
      <p:sp>
        <p:nvSpPr>
          <p:cNvPr name="TextBox 8" id="8"/>
          <p:cNvSpPr txBox="true"/>
          <p:nvPr/>
        </p:nvSpPr>
        <p:spPr>
          <a:xfrm rot="0">
            <a:off x="1028700" y="7471662"/>
            <a:ext cx="16230600" cy="2527935"/>
          </a:xfrm>
          <a:prstGeom prst="rect">
            <a:avLst/>
          </a:prstGeom>
        </p:spPr>
        <p:txBody>
          <a:bodyPr anchor="t" rtlCol="false" tIns="0" lIns="0" bIns="0" rIns="0">
            <a:spAutoFit/>
          </a:bodyPr>
          <a:lstStyle/>
          <a:p>
            <a:pPr algn="just">
              <a:lnSpc>
                <a:spcPts val="5040"/>
              </a:lnSpc>
            </a:pPr>
            <a:r>
              <a:rPr lang="en-US" sz="3600" b="true">
                <a:solidFill>
                  <a:srgbClr val="FFFFFF"/>
                </a:solidFill>
                <a:latin typeface="Body Grotesque Bold"/>
                <a:ea typeface="Body Grotesque Bold"/>
                <a:cs typeface="Body Grotesque Bold"/>
                <a:sym typeface="Body Grotesque Bold"/>
              </a:rPr>
              <a:t>Visualisasi dilakukan untuk melihat distribusi jumlah data pada masing-masing kelas, yaitu tumor dan non-tumor, sehingga dapat diketahui apakah dataset seimbang atau tidak, yang nantinya dapat mempengaruhi performa model.</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4E94B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alphaModFix amt="50000"/>
            </a:blip>
            <a:stretch>
              <a:fillRect l="0" t="-9222" r="0" b="-9222"/>
            </a:stretch>
          </a:blipFill>
        </p:spPr>
      </p:sp>
      <p:grpSp>
        <p:nvGrpSpPr>
          <p:cNvPr name="Group 3" id="3"/>
          <p:cNvGrpSpPr/>
          <p:nvPr/>
        </p:nvGrpSpPr>
        <p:grpSpPr>
          <a:xfrm rot="0">
            <a:off x="780890" y="644750"/>
            <a:ext cx="16726220" cy="2824589"/>
            <a:chOff x="0" y="0"/>
            <a:chExt cx="4405260" cy="743925"/>
          </a:xfrm>
        </p:grpSpPr>
        <p:sp>
          <p:nvSpPr>
            <p:cNvPr name="Freeform 4" id="4"/>
            <p:cNvSpPr/>
            <p:nvPr/>
          </p:nvSpPr>
          <p:spPr>
            <a:xfrm flipH="false" flipV="false" rot="0">
              <a:off x="0" y="0"/>
              <a:ext cx="4405260" cy="743925"/>
            </a:xfrm>
            <a:custGeom>
              <a:avLst/>
              <a:gdLst/>
              <a:ahLst/>
              <a:cxnLst/>
              <a:rect r="r" b="b" t="t" l="l"/>
              <a:pathLst>
                <a:path h="743925" w="4405260">
                  <a:moveTo>
                    <a:pt x="46286" y="0"/>
                  </a:moveTo>
                  <a:lnTo>
                    <a:pt x="4358974" y="0"/>
                  </a:lnTo>
                  <a:cubicBezTo>
                    <a:pt x="4384537" y="0"/>
                    <a:pt x="4405260" y="20723"/>
                    <a:pt x="4405260" y="46286"/>
                  </a:cubicBezTo>
                  <a:lnTo>
                    <a:pt x="4405260" y="697639"/>
                  </a:lnTo>
                  <a:cubicBezTo>
                    <a:pt x="4405260" y="723202"/>
                    <a:pt x="4384537" y="743925"/>
                    <a:pt x="4358974" y="743925"/>
                  </a:cubicBezTo>
                  <a:lnTo>
                    <a:pt x="46286" y="743925"/>
                  </a:lnTo>
                  <a:cubicBezTo>
                    <a:pt x="20723" y="743925"/>
                    <a:pt x="0" y="723202"/>
                    <a:pt x="0" y="697639"/>
                  </a:cubicBezTo>
                  <a:lnTo>
                    <a:pt x="0" y="46286"/>
                  </a:lnTo>
                  <a:cubicBezTo>
                    <a:pt x="0" y="20723"/>
                    <a:pt x="20723" y="0"/>
                    <a:pt x="46286" y="0"/>
                  </a:cubicBezTo>
                  <a:close/>
                </a:path>
              </a:pathLst>
            </a:custGeom>
            <a:ln w="19050" cap="rnd">
              <a:solidFill>
                <a:srgbClr val="FFFFFF"/>
              </a:solidFill>
              <a:prstDash val="solid"/>
              <a:round/>
            </a:ln>
          </p:spPr>
        </p:sp>
        <p:sp>
          <p:nvSpPr>
            <p:cNvPr name="TextBox 5" id="5"/>
            <p:cNvSpPr txBox="true"/>
            <p:nvPr/>
          </p:nvSpPr>
          <p:spPr>
            <a:xfrm>
              <a:off x="0" y="-38100"/>
              <a:ext cx="4405260" cy="782025"/>
            </a:xfrm>
            <a:prstGeom prst="rect">
              <a:avLst/>
            </a:prstGeom>
          </p:spPr>
          <p:txBody>
            <a:bodyPr anchor="ctr" rtlCol="false" tIns="50800" lIns="50800" bIns="50800" rIns="50800"/>
            <a:lstStyle/>
            <a:p>
              <a:pPr algn="ctr">
                <a:lnSpc>
                  <a:spcPts val="3359"/>
                </a:lnSpc>
              </a:pPr>
            </a:p>
          </p:txBody>
        </p:sp>
      </p:grpSp>
      <p:sp>
        <p:nvSpPr>
          <p:cNvPr name="Freeform 6" id="6"/>
          <p:cNvSpPr/>
          <p:nvPr/>
        </p:nvSpPr>
        <p:spPr>
          <a:xfrm flipH="false" flipV="false" rot="0">
            <a:off x="4931774" y="3747211"/>
            <a:ext cx="8424452" cy="3561882"/>
          </a:xfrm>
          <a:custGeom>
            <a:avLst/>
            <a:gdLst/>
            <a:ahLst/>
            <a:cxnLst/>
            <a:rect r="r" b="b" t="t" l="l"/>
            <a:pathLst>
              <a:path h="3561882" w="8424452">
                <a:moveTo>
                  <a:pt x="0" y="0"/>
                </a:moveTo>
                <a:lnTo>
                  <a:pt x="8424452" y="0"/>
                </a:lnTo>
                <a:lnTo>
                  <a:pt x="8424452" y="3561883"/>
                </a:lnTo>
                <a:lnTo>
                  <a:pt x="0" y="3561883"/>
                </a:lnTo>
                <a:lnTo>
                  <a:pt x="0" y="0"/>
                </a:lnTo>
                <a:close/>
              </a:path>
            </a:pathLst>
          </a:custGeom>
          <a:blipFill>
            <a:blip r:embed="rId3"/>
            <a:stretch>
              <a:fillRect l="0" t="0" r="0" b="0"/>
            </a:stretch>
          </a:blipFill>
        </p:spPr>
      </p:sp>
      <p:sp>
        <p:nvSpPr>
          <p:cNvPr name="TextBox 7" id="7"/>
          <p:cNvSpPr txBox="true"/>
          <p:nvPr/>
        </p:nvSpPr>
        <p:spPr>
          <a:xfrm rot="0">
            <a:off x="5271074" y="1723987"/>
            <a:ext cx="7934044" cy="999489"/>
          </a:xfrm>
          <a:prstGeom prst="rect">
            <a:avLst/>
          </a:prstGeom>
        </p:spPr>
        <p:txBody>
          <a:bodyPr anchor="t" rtlCol="false" tIns="0" lIns="0" bIns="0" rIns="0">
            <a:spAutoFit/>
          </a:bodyPr>
          <a:lstStyle/>
          <a:p>
            <a:pPr algn="ctr">
              <a:lnSpc>
                <a:spcPts val="7039"/>
              </a:lnSpc>
            </a:pPr>
            <a:r>
              <a:rPr lang="en-US" b="true" sz="8799">
                <a:solidFill>
                  <a:srgbClr val="FFFFFF"/>
                </a:solidFill>
                <a:latin typeface="Body Grotesque Bold"/>
                <a:ea typeface="Body Grotesque Bold"/>
                <a:cs typeface="Body Grotesque Bold"/>
                <a:sym typeface="Body Grotesque Bold"/>
              </a:rPr>
              <a:t>Split Data</a:t>
            </a:r>
          </a:p>
        </p:txBody>
      </p:sp>
      <p:sp>
        <p:nvSpPr>
          <p:cNvPr name="TextBox 8" id="8"/>
          <p:cNvSpPr txBox="true"/>
          <p:nvPr/>
        </p:nvSpPr>
        <p:spPr>
          <a:xfrm rot="0">
            <a:off x="1028700" y="7520291"/>
            <a:ext cx="16230600" cy="2527935"/>
          </a:xfrm>
          <a:prstGeom prst="rect">
            <a:avLst/>
          </a:prstGeom>
        </p:spPr>
        <p:txBody>
          <a:bodyPr anchor="t" rtlCol="false" tIns="0" lIns="0" bIns="0" rIns="0">
            <a:spAutoFit/>
          </a:bodyPr>
          <a:lstStyle/>
          <a:p>
            <a:pPr algn="just">
              <a:lnSpc>
                <a:spcPts val="5040"/>
              </a:lnSpc>
            </a:pPr>
            <a:r>
              <a:rPr lang="en-US" sz="3600" b="true">
                <a:solidFill>
                  <a:srgbClr val="FFFFFF"/>
                </a:solidFill>
                <a:latin typeface="Body Grotesque Bold"/>
                <a:ea typeface="Body Grotesque Bold"/>
                <a:cs typeface="Body Grotesque Bold"/>
                <a:sym typeface="Body Grotesque Bold"/>
              </a:rPr>
              <a:t>Dataset dibagi menjadi dua bagian, yaitu data training dan data testing dengan perbandingan 80:20, di mana data training digunakan untuk melatih model dan data testing digunakan untuk menguji performa model yang telah dibuat.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4E94B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alphaModFix amt="50000"/>
            </a:blip>
            <a:stretch>
              <a:fillRect l="0" t="-9222" r="0" b="-9222"/>
            </a:stretch>
          </a:blipFill>
        </p:spPr>
      </p:sp>
      <p:grpSp>
        <p:nvGrpSpPr>
          <p:cNvPr name="Group 3" id="3"/>
          <p:cNvGrpSpPr/>
          <p:nvPr/>
        </p:nvGrpSpPr>
        <p:grpSpPr>
          <a:xfrm rot="0">
            <a:off x="780890" y="644750"/>
            <a:ext cx="16726220" cy="2824589"/>
            <a:chOff x="0" y="0"/>
            <a:chExt cx="4405260" cy="743925"/>
          </a:xfrm>
        </p:grpSpPr>
        <p:sp>
          <p:nvSpPr>
            <p:cNvPr name="Freeform 4" id="4"/>
            <p:cNvSpPr/>
            <p:nvPr/>
          </p:nvSpPr>
          <p:spPr>
            <a:xfrm flipH="false" flipV="false" rot="0">
              <a:off x="0" y="0"/>
              <a:ext cx="4405260" cy="743925"/>
            </a:xfrm>
            <a:custGeom>
              <a:avLst/>
              <a:gdLst/>
              <a:ahLst/>
              <a:cxnLst/>
              <a:rect r="r" b="b" t="t" l="l"/>
              <a:pathLst>
                <a:path h="743925" w="4405260">
                  <a:moveTo>
                    <a:pt x="46286" y="0"/>
                  </a:moveTo>
                  <a:lnTo>
                    <a:pt x="4358974" y="0"/>
                  </a:lnTo>
                  <a:cubicBezTo>
                    <a:pt x="4384537" y="0"/>
                    <a:pt x="4405260" y="20723"/>
                    <a:pt x="4405260" y="46286"/>
                  </a:cubicBezTo>
                  <a:lnTo>
                    <a:pt x="4405260" y="697639"/>
                  </a:lnTo>
                  <a:cubicBezTo>
                    <a:pt x="4405260" y="723202"/>
                    <a:pt x="4384537" y="743925"/>
                    <a:pt x="4358974" y="743925"/>
                  </a:cubicBezTo>
                  <a:lnTo>
                    <a:pt x="46286" y="743925"/>
                  </a:lnTo>
                  <a:cubicBezTo>
                    <a:pt x="20723" y="743925"/>
                    <a:pt x="0" y="723202"/>
                    <a:pt x="0" y="697639"/>
                  </a:cubicBezTo>
                  <a:lnTo>
                    <a:pt x="0" y="46286"/>
                  </a:lnTo>
                  <a:cubicBezTo>
                    <a:pt x="0" y="20723"/>
                    <a:pt x="20723" y="0"/>
                    <a:pt x="46286" y="0"/>
                  </a:cubicBezTo>
                  <a:close/>
                </a:path>
              </a:pathLst>
            </a:custGeom>
            <a:ln w="19050" cap="rnd">
              <a:solidFill>
                <a:srgbClr val="FFFFFF"/>
              </a:solidFill>
              <a:prstDash val="solid"/>
              <a:round/>
            </a:ln>
          </p:spPr>
        </p:sp>
        <p:sp>
          <p:nvSpPr>
            <p:cNvPr name="TextBox 5" id="5"/>
            <p:cNvSpPr txBox="true"/>
            <p:nvPr/>
          </p:nvSpPr>
          <p:spPr>
            <a:xfrm>
              <a:off x="0" y="-38100"/>
              <a:ext cx="4405260" cy="782025"/>
            </a:xfrm>
            <a:prstGeom prst="rect">
              <a:avLst/>
            </a:prstGeom>
          </p:spPr>
          <p:txBody>
            <a:bodyPr anchor="ctr" rtlCol="false" tIns="50800" lIns="50800" bIns="50800" rIns="50800"/>
            <a:lstStyle/>
            <a:p>
              <a:pPr algn="ctr">
                <a:lnSpc>
                  <a:spcPts val="3359"/>
                </a:lnSpc>
              </a:pPr>
            </a:p>
          </p:txBody>
        </p:sp>
      </p:grpSp>
      <p:sp>
        <p:nvSpPr>
          <p:cNvPr name="Freeform 6" id="6"/>
          <p:cNvSpPr/>
          <p:nvPr/>
        </p:nvSpPr>
        <p:spPr>
          <a:xfrm flipH="false" flipV="false" rot="0">
            <a:off x="2219559" y="3668851"/>
            <a:ext cx="14090120" cy="3000674"/>
          </a:xfrm>
          <a:custGeom>
            <a:avLst/>
            <a:gdLst/>
            <a:ahLst/>
            <a:cxnLst/>
            <a:rect r="r" b="b" t="t" l="l"/>
            <a:pathLst>
              <a:path h="3000674" w="14090120">
                <a:moveTo>
                  <a:pt x="0" y="0"/>
                </a:moveTo>
                <a:lnTo>
                  <a:pt x="14090120" y="0"/>
                </a:lnTo>
                <a:lnTo>
                  <a:pt x="14090120" y="3000673"/>
                </a:lnTo>
                <a:lnTo>
                  <a:pt x="0" y="3000673"/>
                </a:lnTo>
                <a:lnTo>
                  <a:pt x="0" y="0"/>
                </a:lnTo>
                <a:close/>
              </a:path>
            </a:pathLst>
          </a:custGeom>
          <a:blipFill>
            <a:blip r:embed="rId3"/>
            <a:stretch>
              <a:fillRect l="0" t="0" r="0" b="0"/>
            </a:stretch>
          </a:blipFill>
        </p:spPr>
      </p:sp>
      <p:sp>
        <p:nvSpPr>
          <p:cNvPr name="TextBox 7" id="7"/>
          <p:cNvSpPr txBox="true"/>
          <p:nvPr/>
        </p:nvSpPr>
        <p:spPr>
          <a:xfrm rot="0">
            <a:off x="5271074" y="1281075"/>
            <a:ext cx="7934044" cy="1885314"/>
          </a:xfrm>
          <a:prstGeom prst="rect">
            <a:avLst/>
          </a:prstGeom>
        </p:spPr>
        <p:txBody>
          <a:bodyPr anchor="t" rtlCol="false" tIns="0" lIns="0" bIns="0" rIns="0">
            <a:spAutoFit/>
          </a:bodyPr>
          <a:lstStyle/>
          <a:p>
            <a:pPr algn="ctr">
              <a:lnSpc>
                <a:spcPts val="7039"/>
              </a:lnSpc>
            </a:pPr>
            <a:r>
              <a:rPr lang="en-US" b="true" sz="8799">
                <a:solidFill>
                  <a:srgbClr val="FFFFFF"/>
                </a:solidFill>
                <a:latin typeface="Body Grotesque Bold"/>
                <a:ea typeface="Body Grotesque Bold"/>
                <a:cs typeface="Body Grotesque Bold"/>
                <a:sym typeface="Body Grotesque Bold"/>
              </a:rPr>
              <a:t> Model Naive Bayes</a:t>
            </a:r>
          </a:p>
        </p:txBody>
      </p:sp>
      <p:sp>
        <p:nvSpPr>
          <p:cNvPr name="TextBox 8" id="8"/>
          <p:cNvSpPr txBox="true"/>
          <p:nvPr/>
        </p:nvSpPr>
        <p:spPr>
          <a:xfrm rot="0">
            <a:off x="1028700" y="7098691"/>
            <a:ext cx="16230600" cy="2527935"/>
          </a:xfrm>
          <a:prstGeom prst="rect">
            <a:avLst/>
          </a:prstGeom>
        </p:spPr>
        <p:txBody>
          <a:bodyPr anchor="t" rtlCol="false" tIns="0" lIns="0" bIns="0" rIns="0">
            <a:spAutoFit/>
          </a:bodyPr>
          <a:lstStyle/>
          <a:p>
            <a:pPr algn="just">
              <a:lnSpc>
                <a:spcPts val="5040"/>
              </a:lnSpc>
            </a:pPr>
            <a:r>
              <a:rPr lang="en-US" sz="3600" b="true">
                <a:solidFill>
                  <a:srgbClr val="FFFFFF"/>
                </a:solidFill>
                <a:latin typeface="Body Grotesque Bold"/>
                <a:ea typeface="Body Grotesque Bold"/>
                <a:cs typeface="Body Grotesque Bold"/>
                <a:sym typeface="Body Grotesque Bold"/>
              </a:rPr>
              <a:t>Pada tahap ini digunakan algoritma Gaussian Naive Bayes sebagai metode klasifikasi, yang dipilih karena kemampuannya dalam menangani data numerik dan efisiensi dalam memodelkan probabilitas dari setiap fitur terhadap kelas.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4E94B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alphaModFix amt="50000"/>
            </a:blip>
            <a:stretch>
              <a:fillRect l="0" t="-9222" r="0" b="-9222"/>
            </a:stretch>
          </a:blipFill>
        </p:spPr>
      </p:sp>
      <p:grpSp>
        <p:nvGrpSpPr>
          <p:cNvPr name="Group 3" id="3"/>
          <p:cNvGrpSpPr/>
          <p:nvPr/>
        </p:nvGrpSpPr>
        <p:grpSpPr>
          <a:xfrm rot="0">
            <a:off x="780890" y="644750"/>
            <a:ext cx="16726220" cy="2824589"/>
            <a:chOff x="0" y="0"/>
            <a:chExt cx="4405260" cy="743925"/>
          </a:xfrm>
        </p:grpSpPr>
        <p:sp>
          <p:nvSpPr>
            <p:cNvPr name="Freeform 4" id="4"/>
            <p:cNvSpPr/>
            <p:nvPr/>
          </p:nvSpPr>
          <p:spPr>
            <a:xfrm flipH="false" flipV="false" rot="0">
              <a:off x="0" y="0"/>
              <a:ext cx="4405260" cy="743925"/>
            </a:xfrm>
            <a:custGeom>
              <a:avLst/>
              <a:gdLst/>
              <a:ahLst/>
              <a:cxnLst/>
              <a:rect r="r" b="b" t="t" l="l"/>
              <a:pathLst>
                <a:path h="743925" w="4405260">
                  <a:moveTo>
                    <a:pt x="46286" y="0"/>
                  </a:moveTo>
                  <a:lnTo>
                    <a:pt x="4358974" y="0"/>
                  </a:lnTo>
                  <a:cubicBezTo>
                    <a:pt x="4384537" y="0"/>
                    <a:pt x="4405260" y="20723"/>
                    <a:pt x="4405260" y="46286"/>
                  </a:cubicBezTo>
                  <a:lnTo>
                    <a:pt x="4405260" y="697639"/>
                  </a:lnTo>
                  <a:cubicBezTo>
                    <a:pt x="4405260" y="723202"/>
                    <a:pt x="4384537" y="743925"/>
                    <a:pt x="4358974" y="743925"/>
                  </a:cubicBezTo>
                  <a:lnTo>
                    <a:pt x="46286" y="743925"/>
                  </a:lnTo>
                  <a:cubicBezTo>
                    <a:pt x="20723" y="743925"/>
                    <a:pt x="0" y="723202"/>
                    <a:pt x="0" y="697639"/>
                  </a:cubicBezTo>
                  <a:lnTo>
                    <a:pt x="0" y="46286"/>
                  </a:lnTo>
                  <a:cubicBezTo>
                    <a:pt x="0" y="20723"/>
                    <a:pt x="20723" y="0"/>
                    <a:pt x="46286" y="0"/>
                  </a:cubicBezTo>
                  <a:close/>
                </a:path>
              </a:pathLst>
            </a:custGeom>
            <a:ln w="19050" cap="rnd">
              <a:solidFill>
                <a:srgbClr val="FFFFFF"/>
              </a:solidFill>
              <a:prstDash val="solid"/>
              <a:round/>
            </a:ln>
          </p:spPr>
        </p:sp>
        <p:sp>
          <p:nvSpPr>
            <p:cNvPr name="TextBox 5" id="5"/>
            <p:cNvSpPr txBox="true"/>
            <p:nvPr/>
          </p:nvSpPr>
          <p:spPr>
            <a:xfrm>
              <a:off x="0" y="-38100"/>
              <a:ext cx="4405260" cy="782025"/>
            </a:xfrm>
            <a:prstGeom prst="rect">
              <a:avLst/>
            </a:prstGeom>
          </p:spPr>
          <p:txBody>
            <a:bodyPr anchor="ctr" rtlCol="false" tIns="50800" lIns="50800" bIns="50800" rIns="50800"/>
            <a:lstStyle/>
            <a:p>
              <a:pPr algn="ctr">
                <a:lnSpc>
                  <a:spcPts val="3359"/>
                </a:lnSpc>
              </a:pPr>
            </a:p>
          </p:txBody>
        </p:sp>
      </p:grpSp>
      <p:sp>
        <p:nvSpPr>
          <p:cNvPr name="Freeform 6" id="6"/>
          <p:cNvSpPr/>
          <p:nvPr/>
        </p:nvSpPr>
        <p:spPr>
          <a:xfrm flipH="false" flipV="false" rot="0">
            <a:off x="1028700" y="4298156"/>
            <a:ext cx="16230600" cy="1690688"/>
          </a:xfrm>
          <a:custGeom>
            <a:avLst/>
            <a:gdLst/>
            <a:ahLst/>
            <a:cxnLst/>
            <a:rect r="r" b="b" t="t" l="l"/>
            <a:pathLst>
              <a:path h="1690688" w="16230600">
                <a:moveTo>
                  <a:pt x="0" y="0"/>
                </a:moveTo>
                <a:lnTo>
                  <a:pt x="16230600" y="0"/>
                </a:lnTo>
                <a:lnTo>
                  <a:pt x="16230600" y="1690688"/>
                </a:lnTo>
                <a:lnTo>
                  <a:pt x="0" y="1690688"/>
                </a:lnTo>
                <a:lnTo>
                  <a:pt x="0" y="0"/>
                </a:lnTo>
                <a:close/>
              </a:path>
            </a:pathLst>
          </a:custGeom>
          <a:blipFill>
            <a:blip r:embed="rId3"/>
            <a:stretch>
              <a:fillRect l="0" t="0" r="0" b="0"/>
            </a:stretch>
          </a:blipFill>
        </p:spPr>
      </p:sp>
      <p:sp>
        <p:nvSpPr>
          <p:cNvPr name="TextBox 7" id="7"/>
          <p:cNvSpPr txBox="true"/>
          <p:nvPr/>
        </p:nvSpPr>
        <p:spPr>
          <a:xfrm rot="0">
            <a:off x="5271074" y="1723987"/>
            <a:ext cx="7934044" cy="999489"/>
          </a:xfrm>
          <a:prstGeom prst="rect">
            <a:avLst/>
          </a:prstGeom>
        </p:spPr>
        <p:txBody>
          <a:bodyPr anchor="t" rtlCol="false" tIns="0" lIns="0" bIns="0" rIns="0">
            <a:spAutoFit/>
          </a:bodyPr>
          <a:lstStyle/>
          <a:p>
            <a:pPr algn="ctr">
              <a:lnSpc>
                <a:spcPts val="7039"/>
              </a:lnSpc>
            </a:pPr>
            <a:r>
              <a:rPr lang="en-US" b="true" sz="8799">
                <a:solidFill>
                  <a:srgbClr val="FFFFFF"/>
                </a:solidFill>
                <a:latin typeface="Body Grotesque Bold"/>
                <a:ea typeface="Body Grotesque Bold"/>
                <a:cs typeface="Body Grotesque Bold"/>
                <a:sym typeface="Body Grotesque Bold"/>
              </a:rPr>
              <a:t>Prediksi</a:t>
            </a:r>
          </a:p>
        </p:txBody>
      </p:sp>
      <p:sp>
        <p:nvSpPr>
          <p:cNvPr name="TextBox 8" id="8"/>
          <p:cNvSpPr txBox="true"/>
          <p:nvPr/>
        </p:nvSpPr>
        <p:spPr>
          <a:xfrm rot="0">
            <a:off x="1028700" y="6353864"/>
            <a:ext cx="16230600" cy="2527935"/>
          </a:xfrm>
          <a:prstGeom prst="rect">
            <a:avLst/>
          </a:prstGeom>
        </p:spPr>
        <p:txBody>
          <a:bodyPr anchor="t" rtlCol="false" tIns="0" lIns="0" bIns="0" rIns="0">
            <a:spAutoFit/>
          </a:bodyPr>
          <a:lstStyle/>
          <a:p>
            <a:pPr algn="just">
              <a:lnSpc>
                <a:spcPts val="5040"/>
              </a:lnSpc>
            </a:pPr>
            <a:r>
              <a:rPr lang="en-US" sz="3600" b="true">
                <a:solidFill>
                  <a:srgbClr val="FFFFFF"/>
                </a:solidFill>
                <a:latin typeface="Body Grotesque Bold"/>
                <a:ea typeface="Body Grotesque Bold"/>
                <a:cs typeface="Body Grotesque Bold"/>
                <a:sym typeface="Body Grotesque Bold"/>
              </a:rPr>
              <a:t>Model yang telah dilatih kemudian digunakan untuk melakukan prediksi terhadap data testing, sehingga diperoleh hasil klasifikasi berupa label tumor atau non-tumor berdasarkan pola yang telah dipelajari sebelumnya.</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4E94B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alphaModFix amt="50000"/>
            </a:blip>
            <a:stretch>
              <a:fillRect l="0" t="-9222" r="0" b="-9222"/>
            </a:stretch>
          </a:blipFill>
        </p:spPr>
      </p:sp>
      <p:grpSp>
        <p:nvGrpSpPr>
          <p:cNvPr name="Group 3" id="3"/>
          <p:cNvGrpSpPr/>
          <p:nvPr/>
        </p:nvGrpSpPr>
        <p:grpSpPr>
          <a:xfrm rot="0">
            <a:off x="780890" y="644750"/>
            <a:ext cx="16726220" cy="2824589"/>
            <a:chOff x="0" y="0"/>
            <a:chExt cx="4405260" cy="743925"/>
          </a:xfrm>
        </p:grpSpPr>
        <p:sp>
          <p:nvSpPr>
            <p:cNvPr name="Freeform 4" id="4"/>
            <p:cNvSpPr/>
            <p:nvPr/>
          </p:nvSpPr>
          <p:spPr>
            <a:xfrm flipH="false" flipV="false" rot="0">
              <a:off x="0" y="0"/>
              <a:ext cx="4405260" cy="743925"/>
            </a:xfrm>
            <a:custGeom>
              <a:avLst/>
              <a:gdLst/>
              <a:ahLst/>
              <a:cxnLst/>
              <a:rect r="r" b="b" t="t" l="l"/>
              <a:pathLst>
                <a:path h="743925" w="4405260">
                  <a:moveTo>
                    <a:pt x="46286" y="0"/>
                  </a:moveTo>
                  <a:lnTo>
                    <a:pt x="4358974" y="0"/>
                  </a:lnTo>
                  <a:cubicBezTo>
                    <a:pt x="4384537" y="0"/>
                    <a:pt x="4405260" y="20723"/>
                    <a:pt x="4405260" y="46286"/>
                  </a:cubicBezTo>
                  <a:lnTo>
                    <a:pt x="4405260" y="697639"/>
                  </a:lnTo>
                  <a:cubicBezTo>
                    <a:pt x="4405260" y="723202"/>
                    <a:pt x="4384537" y="743925"/>
                    <a:pt x="4358974" y="743925"/>
                  </a:cubicBezTo>
                  <a:lnTo>
                    <a:pt x="46286" y="743925"/>
                  </a:lnTo>
                  <a:cubicBezTo>
                    <a:pt x="20723" y="743925"/>
                    <a:pt x="0" y="723202"/>
                    <a:pt x="0" y="697639"/>
                  </a:cubicBezTo>
                  <a:lnTo>
                    <a:pt x="0" y="46286"/>
                  </a:lnTo>
                  <a:cubicBezTo>
                    <a:pt x="0" y="20723"/>
                    <a:pt x="20723" y="0"/>
                    <a:pt x="46286" y="0"/>
                  </a:cubicBezTo>
                  <a:close/>
                </a:path>
              </a:pathLst>
            </a:custGeom>
            <a:ln w="19050" cap="rnd">
              <a:solidFill>
                <a:srgbClr val="FFFFFF"/>
              </a:solidFill>
              <a:prstDash val="solid"/>
              <a:round/>
            </a:ln>
          </p:spPr>
        </p:sp>
        <p:sp>
          <p:nvSpPr>
            <p:cNvPr name="TextBox 5" id="5"/>
            <p:cNvSpPr txBox="true"/>
            <p:nvPr/>
          </p:nvSpPr>
          <p:spPr>
            <a:xfrm>
              <a:off x="0" y="-38100"/>
              <a:ext cx="4405260" cy="782025"/>
            </a:xfrm>
            <a:prstGeom prst="rect">
              <a:avLst/>
            </a:prstGeom>
          </p:spPr>
          <p:txBody>
            <a:bodyPr anchor="ctr" rtlCol="false" tIns="50800" lIns="50800" bIns="50800" rIns="50800"/>
            <a:lstStyle/>
            <a:p>
              <a:pPr algn="ctr">
                <a:lnSpc>
                  <a:spcPts val="3359"/>
                </a:lnSpc>
              </a:pPr>
            </a:p>
          </p:txBody>
        </p:sp>
      </p:grpSp>
      <p:sp>
        <p:nvSpPr>
          <p:cNvPr name="Freeform 6" id="6"/>
          <p:cNvSpPr/>
          <p:nvPr/>
        </p:nvSpPr>
        <p:spPr>
          <a:xfrm flipH="false" flipV="false" rot="0">
            <a:off x="6006846" y="3621938"/>
            <a:ext cx="6274308" cy="3671896"/>
          </a:xfrm>
          <a:custGeom>
            <a:avLst/>
            <a:gdLst/>
            <a:ahLst/>
            <a:cxnLst/>
            <a:rect r="r" b="b" t="t" l="l"/>
            <a:pathLst>
              <a:path h="3671896" w="6274308">
                <a:moveTo>
                  <a:pt x="0" y="0"/>
                </a:moveTo>
                <a:lnTo>
                  <a:pt x="6274308" y="0"/>
                </a:lnTo>
                <a:lnTo>
                  <a:pt x="6274308" y="3671896"/>
                </a:lnTo>
                <a:lnTo>
                  <a:pt x="0" y="3671896"/>
                </a:lnTo>
                <a:lnTo>
                  <a:pt x="0" y="0"/>
                </a:lnTo>
                <a:close/>
              </a:path>
            </a:pathLst>
          </a:custGeom>
          <a:blipFill>
            <a:blip r:embed="rId3"/>
            <a:stretch>
              <a:fillRect l="0" t="0" r="0" b="0"/>
            </a:stretch>
          </a:blipFill>
        </p:spPr>
      </p:sp>
      <p:sp>
        <p:nvSpPr>
          <p:cNvPr name="TextBox 7" id="7"/>
          <p:cNvSpPr txBox="true"/>
          <p:nvPr/>
        </p:nvSpPr>
        <p:spPr>
          <a:xfrm rot="0">
            <a:off x="5271074" y="1723987"/>
            <a:ext cx="7934044" cy="999489"/>
          </a:xfrm>
          <a:prstGeom prst="rect">
            <a:avLst/>
          </a:prstGeom>
        </p:spPr>
        <p:txBody>
          <a:bodyPr anchor="t" rtlCol="false" tIns="0" lIns="0" bIns="0" rIns="0">
            <a:spAutoFit/>
          </a:bodyPr>
          <a:lstStyle/>
          <a:p>
            <a:pPr algn="ctr">
              <a:lnSpc>
                <a:spcPts val="7039"/>
              </a:lnSpc>
            </a:pPr>
            <a:r>
              <a:rPr lang="en-US" b="true" sz="8799">
                <a:solidFill>
                  <a:srgbClr val="FFFFFF"/>
                </a:solidFill>
                <a:latin typeface="Body Grotesque Bold"/>
                <a:ea typeface="Body Grotesque Bold"/>
                <a:cs typeface="Body Grotesque Bold"/>
                <a:sym typeface="Body Grotesque Bold"/>
              </a:rPr>
              <a:t>Evaluasi Model</a:t>
            </a:r>
          </a:p>
        </p:txBody>
      </p:sp>
      <p:sp>
        <p:nvSpPr>
          <p:cNvPr name="TextBox 8" id="8"/>
          <p:cNvSpPr txBox="true"/>
          <p:nvPr/>
        </p:nvSpPr>
        <p:spPr>
          <a:xfrm rot="0">
            <a:off x="1028700" y="7379758"/>
            <a:ext cx="16230600" cy="2527935"/>
          </a:xfrm>
          <a:prstGeom prst="rect">
            <a:avLst/>
          </a:prstGeom>
        </p:spPr>
        <p:txBody>
          <a:bodyPr anchor="t" rtlCol="false" tIns="0" lIns="0" bIns="0" rIns="0">
            <a:spAutoFit/>
          </a:bodyPr>
          <a:lstStyle/>
          <a:p>
            <a:pPr algn="just">
              <a:lnSpc>
                <a:spcPts val="5040"/>
              </a:lnSpc>
            </a:pPr>
            <a:r>
              <a:rPr lang="en-US" sz="3600" b="true">
                <a:solidFill>
                  <a:srgbClr val="FFFFFF"/>
                </a:solidFill>
                <a:latin typeface="Body Grotesque Bold"/>
                <a:ea typeface="Body Grotesque Bold"/>
                <a:cs typeface="Body Grotesque Bold"/>
                <a:sym typeface="Body Grotesque Bold"/>
              </a:rPr>
              <a:t>Evaluasi dilakukan untuk mengukur kinerja model menggunakan metrik seperti accuracy, confusion matrix, dan classification report, sehingga dapat diketahui tingkat keakuratan serta kualitas prediksi yang dihasilkan oleh model.</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4E94B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alphaModFix amt="50000"/>
            </a:blip>
            <a:stretch>
              <a:fillRect l="0" t="-9222" r="0" b="-9222"/>
            </a:stretch>
          </a:blipFill>
        </p:spPr>
      </p:sp>
      <p:grpSp>
        <p:nvGrpSpPr>
          <p:cNvPr name="Group 3" id="3"/>
          <p:cNvGrpSpPr/>
          <p:nvPr/>
        </p:nvGrpSpPr>
        <p:grpSpPr>
          <a:xfrm rot="0">
            <a:off x="780890" y="644750"/>
            <a:ext cx="16726220" cy="2824589"/>
            <a:chOff x="0" y="0"/>
            <a:chExt cx="4405260" cy="743925"/>
          </a:xfrm>
        </p:grpSpPr>
        <p:sp>
          <p:nvSpPr>
            <p:cNvPr name="Freeform 4" id="4"/>
            <p:cNvSpPr/>
            <p:nvPr/>
          </p:nvSpPr>
          <p:spPr>
            <a:xfrm flipH="false" flipV="false" rot="0">
              <a:off x="0" y="0"/>
              <a:ext cx="4405260" cy="743925"/>
            </a:xfrm>
            <a:custGeom>
              <a:avLst/>
              <a:gdLst/>
              <a:ahLst/>
              <a:cxnLst/>
              <a:rect r="r" b="b" t="t" l="l"/>
              <a:pathLst>
                <a:path h="743925" w="4405260">
                  <a:moveTo>
                    <a:pt x="46286" y="0"/>
                  </a:moveTo>
                  <a:lnTo>
                    <a:pt x="4358974" y="0"/>
                  </a:lnTo>
                  <a:cubicBezTo>
                    <a:pt x="4384537" y="0"/>
                    <a:pt x="4405260" y="20723"/>
                    <a:pt x="4405260" y="46286"/>
                  </a:cubicBezTo>
                  <a:lnTo>
                    <a:pt x="4405260" y="697639"/>
                  </a:lnTo>
                  <a:cubicBezTo>
                    <a:pt x="4405260" y="723202"/>
                    <a:pt x="4384537" y="743925"/>
                    <a:pt x="4358974" y="743925"/>
                  </a:cubicBezTo>
                  <a:lnTo>
                    <a:pt x="46286" y="743925"/>
                  </a:lnTo>
                  <a:cubicBezTo>
                    <a:pt x="20723" y="743925"/>
                    <a:pt x="0" y="723202"/>
                    <a:pt x="0" y="697639"/>
                  </a:cubicBezTo>
                  <a:lnTo>
                    <a:pt x="0" y="46286"/>
                  </a:lnTo>
                  <a:cubicBezTo>
                    <a:pt x="0" y="20723"/>
                    <a:pt x="20723" y="0"/>
                    <a:pt x="46286" y="0"/>
                  </a:cubicBezTo>
                  <a:close/>
                </a:path>
              </a:pathLst>
            </a:custGeom>
            <a:ln w="19050" cap="rnd">
              <a:solidFill>
                <a:srgbClr val="FFFFFF"/>
              </a:solidFill>
              <a:prstDash val="solid"/>
              <a:round/>
            </a:ln>
          </p:spPr>
        </p:sp>
        <p:sp>
          <p:nvSpPr>
            <p:cNvPr name="TextBox 5" id="5"/>
            <p:cNvSpPr txBox="true"/>
            <p:nvPr/>
          </p:nvSpPr>
          <p:spPr>
            <a:xfrm>
              <a:off x="0" y="-38100"/>
              <a:ext cx="4405260" cy="782025"/>
            </a:xfrm>
            <a:prstGeom prst="rect">
              <a:avLst/>
            </a:prstGeom>
          </p:spPr>
          <p:txBody>
            <a:bodyPr anchor="ctr" rtlCol="false" tIns="50800" lIns="50800" bIns="50800" rIns="50800"/>
            <a:lstStyle/>
            <a:p>
              <a:pPr algn="ctr">
                <a:lnSpc>
                  <a:spcPts val="3359"/>
                </a:lnSpc>
              </a:pPr>
            </a:p>
          </p:txBody>
        </p:sp>
      </p:grpSp>
      <p:sp>
        <p:nvSpPr>
          <p:cNvPr name="Freeform 6" id="6"/>
          <p:cNvSpPr/>
          <p:nvPr/>
        </p:nvSpPr>
        <p:spPr>
          <a:xfrm flipH="false" flipV="false" rot="0">
            <a:off x="5193446" y="3736852"/>
            <a:ext cx="7901108" cy="3442067"/>
          </a:xfrm>
          <a:custGeom>
            <a:avLst/>
            <a:gdLst/>
            <a:ahLst/>
            <a:cxnLst/>
            <a:rect r="r" b="b" t="t" l="l"/>
            <a:pathLst>
              <a:path h="3442067" w="7901108">
                <a:moveTo>
                  <a:pt x="0" y="0"/>
                </a:moveTo>
                <a:lnTo>
                  <a:pt x="7901108" y="0"/>
                </a:lnTo>
                <a:lnTo>
                  <a:pt x="7901108" y="3442067"/>
                </a:lnTo>
                <a:lnTo>
                  <a:pt x="0" y="3442067"/>
                </a:lnTo>
                <a:lnTo>
                  <a:pt x="0" y="0"/>
                </a:lnTo>
                <a:close/>
              </a:path>
            </a:pathLst>
          </a:custGeom>
          <a:blipFill>
            <a:blip r:embed="rId3"/>
            <a:stretch>
              <a:fillRect l="0" t="0" r="0" b="0"/>
            </a:stretch>
          </a:blipFill>
        </p:spPr>
      </p:sp>
      <p:sp>
        <p:nvSpPr>
          <p:cNvPr name="TextBox 7" id="7"/>
          <p:cNvSpPr txBox="true"/>
          <p:nvPr/>
        </p:nvSpPr>
        <p:spPr>
          <a:xfrm rot="0">
            <a:off x="5271074" y="978125"/>
            <a:ext cx="7934044" cy="2771139"/>
          </a:xfrm>
          <a:prstGeom prst="rect">
            <a:avLst/>
          </a:prstGeom>
        </p:spPr>
        <p:txBody>
          <a:bodyPr anchor="t" rtlCol="false" tIns="0" lIns="0" bIns="0" rIns="0">
            <a:spAutoFit/>
          </a:bodyPr>
          <a:lstStyle/>
          <a:p>
            <a:pPr algn="ctr">
              <a:lnSpc>
                <a:spcPts val="7039"/>
              </a:lnSpc>
            </a:pPr>
            <a:r>
              <a:rPr lang="en-US" b="true" sz="8799">
                <a:solidFill>
                  <a:srgbClr val="FFFFFF"/>
                </a:solidFill>
                <a:latin typeface="Body Grotesque Bold"/>
                <a:ea typeface="Body Grotesque Bold"/>
                <a:cs typeface="Body Grotesque Bold"/>
                <a:sym typeface="Body Grotesque Bold"/>
              </a:rPr>
              <a:t>Visualisasi Confusion Matrix</a:t>
            </a:r>
          </a:p>
        </p:txBody>
      </p:sp>
      <p:sp>
        <p:nvSpPr>
          <p:cNvPr name="TextBox 8" id="8"/>
          <p:cNvSpPr txBox="true"/>
          <p:nvPr/>
        </p:nvSpPr>
        <p:spPr>
          <a:xfrm rot="0">
            <a:off x="1028700" y="7379758"/>
            <a:ext cx="16230600" cy="3166110"/>
          </a:xfrm>
          <a:prstGeom prst="rect">
            <a:avLst/>
          </a:prstGeom>
        </p:spPr>
        <p:txBody>
          <a:bodyPr anchor="t" rtlCol="false" tIns="0" lIns="0" bIns="0" rIns="0">
            <a:spAutoFit/>
          </a:bodyPr>
          <a:lstStyle/>
          <a:p>
            <a:pPr algn="just">
              <a:lnSpc>
                <a:spcPts val="5040"/>
              </a:lnSpc>
            </a:pPr>
            <a:r>
              <a:rPr lang="en-US" sz="3600" b="true">
                <a:solidFill>
                  <a:srgbClr val="FFFFFF"/>
                </a:solidFill>
                <a:latin typeface="Body Grotesque Bold"/>
                <a:ea typeface="Body Grotesque Bold"/>
                <a:cs typeface="Body Grotesque Bold"/>
                <a:sym typeface="Body Grotesque Bold"/>
              </a:rPr>
              <a:t>Confusion matrix divisualisasikan dalam bentuk heatmap untuk mempermudah interpretasi hasil klasifikasi, sehingga dapat dilihat dengan jelas jumlah prediksi yang benar maupun yang salah pada setiap kelas.</a:t>
            </a:r>
          </a:p>
          <a:p>
            <a:pPr algn="just">
              <a:lnSpc>
                <a:spcPts val="5040"/>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4E94B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alphaModFix amt="50000"/>
            </a:blip>
            <a:stretch>
              <a:fillRect l="0" t="-9222" r="0" b="-9222"/>
            </a:stretch>
          </a:blipFill>
        </p:spPr>
      </p:sp>
      <p:grpSp>
        <p:nvGrpSpPr>
          <p:cNvPr name="Group 3" id="3"/>
          <p:cNvGrpSpPr/>
          <p:nvPr/>
        </p:nvGrpSpPr>
        <p:grpSpPr>
          <a:xfrm rot="0">
            <a:off x="780890" y="644750"/>
            <a:ext cx="16726220" cy="2824589"/>
            <a:chOff x="0" y="0"/>
            <a:chExt cx="4405260" cy="743925"/>
          </a:xfrm>
        </p:grpSpPr>
        <p:sp>
          <p:nvSpPr>
            <p:cNvPr name="Freeform 4" id="4"/>
            <p:cNvSpPr/>
            <p:nvPr/>
          </p:nvSpPr>
          <p:spPr>
            <a:xfrm flipH="false" flipV="false" rot="0">
              <a:off x="0" y="0"/>
              <a:ext cx="4405260" cy="743925"/>
            </a:xfrm>
            <a:custGeom>
              <a:avLst/>
              <a:gdLst/>
              <a:ahLst/>
              <a:cxnLst/>
              <a:rect r="r" b="b" t="t" l="l"/>
              <a:pathLst>
                <a:path h="743925" w="4405260">
                  <a:moveTo>
                    <a:pt x="46286" y="0"/>
                  </a:moveTo>
                  <a:lnTo>
                    <a:pt x="4358974" y="0"/>
                  </a:lnTo>
                  <a:cubicBezTo>
                    <a:pt x="4384537" y="0"/>
                    <a:pt x="4405260" y="20723"/>
                    <a:pt x="4405260" y="46286"/>
                  </a:cubicBezTo>
                  <a:lnTo>
                    <a:pt x="4405260" y="697639"/>
                  </a:lnTo>
                  <a:cubicBezTo>
                    <a:pt x="4405260" y="723202"/>
                    <a:pt x="4384537" y="743925"/>
                    <a:pt x="4358974" y="743925"/>
                  </a:cubicBezTo>
                  <a:lnTo>
                    <a:pt x="46286" y="743925"/>
                  </a:lnTo>
                  <a:cubicBezTo>
                    <a:pt x="20723" y="743925"/>
                    <a:pt x="0" y="723202"/>
                    <a:pt x="0" y="697639"/>
                  </a:cubicBezTo>
                  <a:lnTo>
                    <a:pt x="0" y="46286"/>
                  </a:lnTo>
                  <a:cubicBezTo>
                    <a:pt x="0" y="20723"/>
                    <a:pt x="20723" y="0"/>
                    <a:pt x="46286" y="0"/>
                  </a:cubicBezTo>
                  <a:close/>
                </a:path>
              </a:pathLst>
            </a:custGeom>
            <a:ln w="19050" cap="rnd">
              <a:solidFill>
                <a:srgbClr val="FFFFFF"/>
              </a:solidFill>
              <a:prstDash val="solid"/>
              <a:round/>
            </a:ln>
          </p:spPr>
        </p:sp>
        <p:sp>
          <p:nvSpPr>
            <p:cNvPr name="TextBox 5" id="5"/>
            <p:cNvSpPr txBox="true"/>
            <p:nvPr/>
          </p:nvSpPr>
          <p:spPr>
            <a:xfrm>
              <a:off x="0" y="-38100"/>
              <a:ext cx="4405260" cy="782025"/>
            </a:xfrm>
            <a:prstGeom prst="rect">
              <a:avLst/>
            </a:prstGeom>
          </p:spPr>
          <p:txBody>
            <a:bodyPr anchor="ctr" rtlCol="false" tIns="50800" lIns="50800" bIns="50800" rIns="50800"/>
            <a:lstStyle/>
            <a:p>
              <a:pPr algn="ctr">
                <a:lnSpc>
                  <a:spcPts val="3359"/>
                </a:lnSpc>
              </a:pPr>
            </a:p>
          </p:txBody>
        </p:sp>
      </p:grpSp>
      <p:sp>
        <p:nvSpPr>
          <p:cNvPr name="Freeform 6" id="6"/>
          <p:cNvSpPr/>
          <p:nvPr/>
        </p:nvSpPr>
        <p:spPr>
          <a:xfrm flipH="false" flipV="false" rot="0">
            <a:off x="3891690" y="4619189"/>
            <a:ext cx="10504620" cy="1048622"/>
          </a:xfrm>
          <a:custGeom>
            <a:avLst/>
            <a:gdLst/>
            <a:ahLst/>
            <a:cxnLst/>
            <a:rect r="r" b="b" t="t" l="l"/>
            <a:pathLst>
              <a:path h="1048622" w="10504620">
                <a:moveTo>
                  <a:pt x="0" y="0"/>
                </a:moveTo>
                <a:lnTo>
                  <a:pt x="10504620" y="0"/>
                </a:lnTo>
                <a:lnTo>
                  <a:pt x="10504620" y="1048622"/>
                </a:lnTo>
                <a:lnTo>
                  <a:pt x="0" y="1048622"/>
                </a:lnTo>
                <a:lnTo>
                  <a:pt x="0" y="0"/>
                </a:lnTo>
                <a:close/>
              </a:path>
            </a:pathLst>
          </a:custGeom>
          <a:blipFill>
            <a:blip r:embed="rId3"/>
            <a:stretch>
              <a:fillRect l="0" t="0" r="0" b="0"/>
            </a:stretch>
          </a:blipFill>
        </p:spPr>
      </p:sp>
      <p:sp>
        <p:nvSpPr>
          <p:cNvPr name="TextBox 7" id="7"/>
          <p:cNvSpPr txBox="true"/>
          <p:nvPr/>
        </p:nvSpPr>
        <p:spPr>
          <a:xfrm rot="0">
            <a:off x="5271074" y="1281075"/>
            <a:ext cx="7934044" cy="1885314"/>
          </a:xfrm>
          <a:prstGeom prst="rect">
            <a:avLst/>
          </a:prstGeom>
        </p:spPr>
        <p:txBody>
          <a:bodyPr anchor="t" rtlCol="false" tIns="0" lIns="0" bIns="0" rIns="0">
            <a:spAutoFit/>
          </a:bodyPr>
          <a:lstStyle/>
          <a:p>
            <a:pPr algn="ctr">
              <a:lnSpc>
                <a:spcPts val="7039"/>
              </a:lnSpc>
            </a:pPr>
            <a:r>
              <a:rPr lang="en-US" b="true" sz="8799">
                <a:solidFill>
                  <a:srgbClr val="FFFFFF"/>
                </a:solidFill>
                <a:latin typeface="Body Grotesque Bold"/>
                <a:ea typeface="Body Grotesque Bold"/>
                <a:cs typeface="Body Grotesque Bold"/>
                <a:sym typeface="Body Grotesque Bold"/>
              </a:rPr>
              <a:t>Cross Validation</a:t>
            </a:r>
          </a:p>
        </p:txBody>
      </p:sp>
      <p:sp>
        <p:nvSpPr>
          <p:cNvPr name="TextBox 8" id="8"/>
          <p:cNvSpPr txBox="true"/>
          <p:nvPr/>
        </p:nvSpPr>
        <p:spPr>
          <a:xfrm rot="0">
            <a:off x="1028700" y="6367917"/>
            <a:ext cx="16230600" cy="2527935"/>
          </a:xfrm>
          <a:prstGeom prst="rect">
            <a:avLst/>
          </a:prstGeom>
        </p:spPr>
        <p:txBody>
          <a:bodyPr anchor="t" rtlCol="false" tIns="0" lIns="0" bIns="0" rIns="0">
            <a:spAutoFit/>
          </a:bodyPr>
          <a:lstStyle/>
          <a:p>
            <a:pPr algn="just">
              <a:lnSpc>
                <a:spcPts val="5040"/>
              </a:lnSpc>
            </a:pPr>
            <a:r>
              <a:rPr lang="en-US" sz="3600" b="true">
                <a:solidFill>
                  <a:srgbClr val="FFFFFF"/>
                </a:solidFill>
                <a:latin typeface="Body Grotesque Bold"/>
                <a:ea typeface="Body Grotesque Bold"/>
                <a:cs typeface="Body Grotesque Bold"/>
                <a:sym typeface="Body Grotesque Bold"/>
              </a:rPr>
              <a:t>Cross validation dilakukan untuk menguji kestabilan model dengan membagi data ke dalam beberapa bagian secara bergantian, sehingga diperoleh gambaran performa model yang lebih akurat dan tidak bergantung pada satu pembagian data saja.</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4E94B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alphaModFix amt="50000"/>
            </a:blip>
            <a:stretch>
              <a:fillRect l="0" t="-9222" r="0" b="-9222"/>
            </a:stretch>
          </a:blipFill>
        </p:spPr>
      </p:sp>
      <p:grpSp>
        <p:nvGrpSpPr>
          <p:cNvPr name="Group 3" id="3"/>
          <p:cNvGrpSpPr/>
          <p:nvPr/>
        </p:nvGrpSpPr>
        <p:grpSpPr>
          <a:xfrm rot="0">
            <a:off x="780890" y="644750"/>
            <a:ext cx="16726220" cy="1728429"/>
            <a:chOff x="0" y="0"/>
            <a:chExt cx="4405260" cy="455224"/>
          </a:xfrm>
        </p:grpSpPr>
        <p:sp>
          <p:nvSpPr>
            <p:cNvPr name="Freeform 4" id="4"/>
            <p:cNvSpPr/>
            <p:nvPr/>
          </p:nvSpPr>
          <p:spPr>
            <a:xfrm flipH="false" flipV="false" rot="0">
              <a:off x="0" y="0"/>
              <a:ext cx="4405260" cy="455224"/>
            </a:xfrm>
            <a:custGeom>
              <a:avLst/>
              <a:gdLst/>
              <a:ahLst/>
              <a:cxnLst/>
              <a:rect r="r" b="b" t="t" l="l"/>
              <a:pathLst>
                <a:path h="455224" w="4405260">
                  <a:moveTo>
                    <a:pt x="46286" y="0"/>
                  </a:moveTo>
                  <a:lnTo>
                    <a:pt x="4358974" y="0"/>
                  </a:lnTo>
                  <a:cubicBezTo>
                    <a:pt x="4384537" y="0"/>
                    <a:pt x="4405260" y="20723"/>
                    <a:pt x="4405260" y="46286"/>
                  </a:cubicBezTo>
                  <a:lnTo>
                    <a:pt x="4405260" y="408938"/>
                  </a:lnTo>
                  <a:cubicBezTo>
                    <a:pt x="4405260" y="434501"/>
                    <a:pt x="4384537" y="455224"/>
                    <a:pt x="4358974" y="455224"/>
                  </a:cubicBezTo>
                  <a:lnTo>
                    <a:pt x="46286" y="455224"/>
                  </a:lnTo>
                  <a:cubicBezTo>
                    <a:pt x="20723" y="455224"/>
                    <a:pt x="0" y="434501"/>
                    <a:pt x="0" y="408938"/>
                  </a:cubicBezTo>
                  <a:lnTo>
                    <a:pt x="0" y="46286"/>
                  </a:lnTo>
                  <a:cubicBezTo>
                    <a:pt x="0" y="20723"/>
                    <a:pt x="20723" y="0"/>
                    <a:pt x="46286" y="0"/>
                  </a:cubicBezTo>
                  <a:close/>
                </a:path>
              </a:pathLst>
            </a:custGeom>
            <a:ln w="19050" cap="rnd">
              <a:solidFill>
                <a:srgbClr val="FFFFFF"/>
              </a:solidFill>
              <a:prstDash val="solid"/>
              <a:round/>
            </a:ln>
          </p:spPr>
        </p:sp>
        <p:sp>
          <p:nvSpPr>
            <p:cNvPr name="TextBox 5" id="5"/>
            <p:cNvSpPr txBox="true"/>
            <p:nvPr/>
          </p:nvSpPr>
          <p:spPr>
            <a:xfrm>
              <a:off x="0" y="-38100"/>
              <a:ext cx="4405260" cy="493324"/>
            </a:xfrm>
            <a:prstGeom prst="rect">
              <a:avLst/>
            </a:prstGeom>
          </p:spPr>
          <p:txBody>
            <a:bodyPr anchor="ctr" rtlCol="false" tIns="50800" lIns="50800" bIns="50800" rIns="50800"/>
            <a:lstStyle/>
            <a:p>
              <a:pPr algn="ctr">
                <a:lnSpc>
                  <a:spcPts val="3359"/>
                </a:lnSpc>
              </a:pPr>
            </a:p>
          </p:txBody>
        </p:sp>
      </p:grpSp>
      <p:sp>
        <p:nvSpPr>
          <p:cNvPr name="Freeform 6" id="6"/>
          <p:cNvSpPr/>
          <p:nvPr/>
        </p:nvSpPr>
        <p:spPr>
          <a:xfrm flipH="false" flipV="false" rot="0">
            <a:off x="3755855" y="2574789"/>
            <a:ext cx="6510868" cy="4557607"/>
          </a:xfrm>
          <a:custGeom>
            <a:avLst/>
            <a:gdLst/>
            <a:ahLst/>
            <a:cxnLst/>
            <a:rect r="r" b="b" t="t" l="l"/>
            <a:pathLst>
              <a:path h="4557607" w="6510868">
                <a:moveTo>
                  <a:pt x="0" y="0"/>
                </a:moveTo>
                <a:lnTo>
                  <a:pt x="6510867" y="0"/>
                </a:lnTo>
                <a:lnTo>
                  <a:pt x="6510867" y="4557607"/>
                </a:lnTo>
                <a:lnTo>
                  <a:pt x="0" y="4557607"/>
                </a:lnTo>
                <a:lnTo>
                  <a:pt x="0" y="0"/>
                </a:lnTo>
                <a:close/>
              </a:path>
            </a:pathLst>
          </a:custGeom>
          <a:blipFill>
            <a:blip r:embed="rId3"/>
            <a:stretch>
              <a:fillRect l="0" t="0" r="0" b="0"/>
            </a:stretch>
          </a:blipFill>
        </p:spPr>
      </p:sp>
      <p:sp>
        <p:nvSpPr>
          <p:cNvPr name="Freeform 7" id="7"/>
          <p:cNvSpPr/>
          <p:nvPr/>
        </p:nvSpPr>
        <p:spPr>
          <a:xfrm flipH="false" flipV="false" rot="0">
            <a:off x="10497515" y="2574789"/>
            <a:ext cx="4290939" cy="4557607"/>
          </a:xfrm>
          <a:custGeom>
            <a:avLst/>
            <a:gdLst/>
            <a:ahLst/>
            <a:cxnLst/>
            <a:rect r="r" b="b" t="t" l="l"/>
            <a:pathLst>
              <a:path h="4557607" w="4290939">
                <a:moveTo>
                  <a:pt x="0" y="0"/>
                </a:moveTo>
                <a:lnTo>
                  <a:pt x="4290939" y="0"/>
                </a:lnTo>
                <a:lnTo>
                  <a:pt x="4290939" y="4557607"/>
                </a:lnTo>
                <a:lnTo>
                  <a:pt x="0" y="4557607"/>
                </a:lnTo>
                <a:lnTo>
                  <a:pt x="0" y="0"/>
                </a:lnTo>
                <a:close/>
              </a:path>
            </a:pathLst>
          </a:custGeom>
          <a:blipFill>
            <a:blip r:embed="rId4"/>
            <a:stretch>
              <a:fillRect l="0" t="0" r="0" b="0"/>
            </a:stretch>
          </a:blipFill>
        </p:spPr>
      </p:sp>
      <p:sp>
        <p:nvSpPr>
          <p:cNvPr name="TextBox 8" id="8"/>
          <p:cNvSpPr txBox="true"/>
          <p:nvPr/>
        </p:nvSpPr>
        <p:spPr>
          <a:xfrm rot="0">
            <a:off x="5327287" y="1175907"/>
            <a:ext cx="7934044" cy="999489"/>
          </a:xfrm>
          <a:prstGeom prst="rect">
            <a:avLst/>
          </a:prstGeom>
        </p:spPr>
        <p:txBody>
          <a:bodyPr anchor="t" rtlCol="false" tIns="0" lIns="0" bIns="0" rIns="0">
            <a:spAutoFit/>
          </a:bodyPr>
          <a:lstStyle/>
          <a:p>
            <a:pPr algn="ctr">
              <a:lnSpc>
                <a:spcPts val="7039"/>
              </a:lnSpc>
            </a:pPr>
            <a:r>
              <a:rPr lang="en-US" b="true" sz="8799">
                <a:solidFill>
                  <a:srgbClr val="FFFFFF"/>
                </a:solidFill>
                <a:latin typeface="Body Grotesque Bold"/>
                <a:ea typeface="Body Grotesque Bold"/>
                <a:cs typeface="Body Grotesque Bold"/>
                <a:sym typeface="Body Grotesque Bold"/>
              </a:rPr>
              <a:t> Export Hasil</a:t>
            </a:r>
          </a:p>
        </p:txBody>
      </p:sp>
      <p:sp>
        <p:nvSpPr>
          <p:cNvPr name="TextBox 9" id="9"/>
          <p:cNvSpPr txBox="true"/>
          <p:nvPr/>
        </p:nvSpPr>
        <p:spPr>
          <a:xfrm rot="0">
            <a:off x="1028700" y="7267331"/>
            <a:ext cx="16230600" cy="3166110"/>
          </a:xfrm>
          <a:prstGeom prst="rect">
            <a:avLst/>
          </a:prstGeom>
        </p:spPr>
        <p:txBody>
          <a:bodyPr anchor="t" rtlCol="false" tIns="0" lIns="0" bIns="0" rIns="0">
            <a:spAutoFit/>
          </a:bodyPr>
          <a:lstStyle/>
          <a:p>
            <a:pPr algn="just">
              <a:lnSpc>
                <a:spcPts val="5040"/>
              </a:lnSpc>
            </a:pPr>
            <a:r>
              <a:rPr lang="en-US" sz="3600" b="true">
                <a:solidFill>
                  <a:srgbClr val="FFFFFF"/>
                </a:solidFill>
                <a:latin typeface="Body Grotesque Bold"/>
                <a:ea typeface="Body Grotesque Bold"/>
                <a:cs typeface="Body Grotesque Bold"/>
                <a:sym typeface="Body Grotesque Bold"/>
              </a:rPr>
              <a:t>Pada tahap akhir, hasil analisis seperti prediksi, confusion matrix, classification report, serta visualisasi disimpan ke dalam file CSV, Excel, dan gambar di Google Drive, sehingga dapat digunakan untuk dokumentasi, pelaporan, dan keperluan presentasi.</a:t>
            </a:r>
          </a:p>
          <a:p>
            <a:pPr algn="just">
              <a:lnSpc>
                <a:spcPts val="5040"/>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4E94B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alphaModFix amt="50000"/>
            </a:blip>
            <a:stretch>
              <a:fillRect l="0" t="-9222" r="0" b="-9222"/>
            </a:stretch>
          </a:blipFill>
        </p:spPr>
      </p:sp>
      <p:grpSp>
        <p:nvGrpSpPr>
          <p:cNvPr name="Group 3" id="3"/>
          <p:cNvGrpSpPr/>
          <p:nvPr/>
        </p:nvGrpSpPr>
        <p:grpSpPr>
          <a:xfrm rot="0">
            <a:off x="780890" y="644750"/>
            <a:ext cx="16726220" cy="1728429"/>
            <a:chOff x="0" y="0"/>
            <a:chExt cx="4405260" cy="455224"/>
          </a:xfrm>
        </p:grpSpPr>
        <p:sp>
          <p:nvSpPr>
            <p:cNvPr name="Freeform 4" id="4"/>
            <p:cNvSpPr/>
            <p:nvPr/>
          </p:nvSpPr>
          <p:spPr>
            <a:xfrm flipH="false" flipV="false" rot="0">
              <a:off x="0" y="0"/>
              <a:ext cx="4405260" cy="455224"/>
            </a:xfrm>
            <a:custGeom>
              <a:avLst/>
              <a:gdLst/>
              <a:ahLst/>
              <a:cxnLst/>
              <a:rect r="r" b="b" t="t" l="l"/>
              <a:pathLst>
                <a:path h="455224" w="4405260">
                  <a:moveTo>
                    <a:pt x="46286" y="0"/>
                  </a:moveTo>
                  <a:lnTo>
                    <a:pt x="4358974" y="0"/>
                  </a:lnTo>
                  <a:cubicBezTo>
                    <a:pt x="4384537" y="0"/>
                    <a:pt x="4405260" y="20723"/>
                    <a:pt x="4405260" y="46286"/>
                  </a:cubicBezTo>
                  <a:lnTo>
                    <a:pt x="4405260" y="408938"/>
                  </a:lnTo>
                  <a:cubicBezTo>
                    <a:pt x="4405260" y="434501"/>
                    <a:pt x="4384537" y="455224"/>
                    <a:pt x="4358974" y="455224"/>
                  </a:cubicBezTo>
                  <a:lnTo>
                    <a:pt x="46286" y="455224"/>
                  </a:lnTo>
                  <a:cubicBezTo>
                    <a:pt x="20723" y="455224"/>
                    <a:pt x="0" y="434501"/>
                    <a:pt x="0" y="408938"/>
                  </a:cubicBezTo>
                  <a:lnTo>
                    <a:pt x="0" y="46286"/>
                  </a:lnTo>
                  <a:cubicBezTo>
                    <a:pt x="0" y="20723"/>
                    <a:pt x="20723" y="0"/>
                    <a:pt x="46286" y="0"/>
                  </a:cubicBezTo>
                  <a:close/>
                </a:path>
              </a:pathLst>
            </a:custGeom>
            <a:ln w="19050" cap="rnd">
              <a:solidFill>
                <a:srgbClr val="FFFFFF"/>
              </a:solidFill>
              <a:prstDash val="solid"/>
              <a:round/>
            </a:ln>
          </p:spPr>
        </p:sp>
        <p:sp>
          <p:nvSpPr>
            <p:cNvPr name="TextBox 5" id="5"/>
            <p:cNvSpPr txBox="true"/>
            <p:nvPr/>
          </p:nvSpPr>
          <p:spPr>
            <a:xfrm>
              <a:off x="0" y="-38100"/>
              <a:ext cx="4405260" cy="493324"/>
            </a:xfrm>
            <a:prstGeom prst="rect">
              <a:avLst/>
            </a:prstGeom>
          </p:spPr>
          <p:txBody>
            <a:bodyPr anchor="ctr" rtlCol="false" tIns="50800" lIns="50800" bIns="50800" rIns="50800"/>
            <a:lstStyle/>
            <a:p>
              <a:pPr algn="ctr">
                <a:lnSpc>
                  <a:spcPts val="3359"/>
                </a:lnSpc>
              </a:pPr>
            </a:p>
          </p:txBody>
        </p:sp>
      </p:grpSp>
      <p:sp>
        <p:nvSpPr>
          <p:cNvPr name="Freeform 6" id="6"/>
          <p:cNvSpPr/>
          <p:nvPr/>
        </p:nvSpPr>
        <p:spPr>
          <a:xfrm flipH="false" flipV="false" rot="0">
            <a:off x="4646294" y="2617245"/>
            <a:ext cx="8995412" cy="7214502"/>
          </a:xfrm>
          <a:custGeom>
            <a:avLst/>
            <a:gdLst/>
            <a:ahLst/>
            <a:cxnLst/>
            <a:rect r="r" b="b" t="t" l="l"/>
            <a:pathLst>
              <a:path h="7214502" w="8995412">
                <a:moveTo>
                  <a:pt x="0" y="0"/>
                </a:moveTo>
                <a:lnTo>
                  <a:pt x="8995412" y="0"/>
                </a:lnTo>
                <a:lnTo>
                  <a:pt x="8995412" y="7214502"/>
                </a:lnTo>
                <a:lnTo>
                  <a:pt x="0" y="7214502"/>
                </a:lnTo>
                <a:lnTo>
                  <a:pt x="0" y="0"/>
                </a:lnTo>
                <a:close/>
              </a:path>
            </a:pathLst>
          </a:custGeom>
          <a:blipFill>
            <a:blip r:embed="rId3"/>
            <a:stretch>
              <a:fillRect l="0" t="0" r="0" b="0"/>
            </a:stretch>
          </a:blipFill>
        </p:spPr>
      </p:sp>
      <p:sp>
        <p:nvSpPr>
          <p:cNvPr name="TextBox 7" id="7"/>
          <p:cNvSpPr txBox="true"/>
          <p:nvPr/>
        </p:nvSpPr>
        <p:spPr>
          <a:xfrm rot="0">
            <a:off x="2724671" y="1175907"/>
            <a:ext cx="12838658" cy="999489"/>
          </a:xfrm>
          <a:prstGeom prst="rect">
            <a:avLst/>
          </a:prstGeom>
        </p:spPr>
        <p:txBody>
          <a:bodyPr anchor="t" rtlCol="false" tIns="0" lIns="0" bIns="0" rIns="0">
            <a:spAutoFit/>
          </a:bodyPr>
          <a:lstStyle/>
          <a:p>
            <a:pPr algn="ctr">
              <a:lnSpc>
                <a:spcPts val="7039"/>
              </a:lnSpc>
            </a:pPr>
            <a:r>
              <a:rPr lang="en-US" b="true" sz="8799">
                <a:solidFill>
                  <a:srgbClr val="FFFFFF"/>
                </a:solidFill>
                <a:latin typeface="Body Grotesque Bold"/>
                <a:ea typeface="Body Grotesque Bold"/>
                <a:cs typeface="Body Grotesque Bold"/>
                <a:sym typeface="Body Grotesque Bold"/>
              </a:rPr>
              <a:t>Hasil Confusion Matrix</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4E94B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alphaModFix amt="50000"/>
            </a:blip>
            <a:stretch>
              <a:fillRect l="0" t="-9222" r="0" b="-9222"/>
            </a:stretch>
          </a:blipFill>
        </p:spPr>
      </p:sp>
      <p:grpSp>
        <p:nvGrpSpPr>
          <p:cNvPr name="Group 3" id="3"/>
          <p:cNvGrpSpPr/>
          <p:nvPr/>
        </p:nvGrpSpPr>
        <p:grpSpPr>
          <a:xfrm rot="0">
            <a:off x="780890" y="644750"/>
            <a:ext cx="16726220" cy="1728429"/>
            <a:chOff x="0" y="0"/>
            <a:chExt cx="4405260" cy="455224"/>
          </a:xfrm>
        </p:grpSpPr>
        <p:sp>
          <p:nvSpPr>
            <p:cNvPr name="Freeform 4" id="4"/>
            <p:cNvSpPr/>
            <p:nvPr/>
          </p:nvSpPr>
          <p:spPr>
            <a:xfrm flipH="false" flipV="false" rot="0">
              <a:off x="0" y="0"/>
              <a:ext cx="4405260" cy="455224"/>
            </a:xfrm>
            <a:custGeom>
              <a:avLst/>
              <a:gdLst/>
              <a:ahLst/>
              <a:cxnLst/>
              <a:rect r="r" b="b" t="t" l="l"/>
              <a:pathLst>
                <a:path h="455224" w="4405260">
                  <a:moveTo>
                    <a:pt x="46286" y="0"/>
                  </a:moveTo>
                  <a:lnTo>
                    <a:pt x="4358974" y="0"/>
                  </a:lnTo>
                  <a:cubicBezTo>
                    <a:pt x="4384537" y="0"/>
                    <a:pt x="4405260" y="20723"/>
                    <a:pt x="4405260" y="46286"/>
                  </a:cubicBezTo>
                  <a:lnTo>
                    <a:pt x="4405260" y="408938"/>
                  </a:lnTo>
                  <a:cubicBezTo>
                    <a:pt x="4405260" y="434501"/>
                    <a:pt x="4384537" y="455224"/>
                    <a:pt x="4358974" y="455224"/>
                  </a:cubicBezTo>
                  <a:lnTo>
                    <a:pt x="46286" y="455224"/>
                  </a:lnTo>
                  <a:cubicBezTo>
                    <a:pt x="20723" y="455224"/>
                    <a:pt x="0" y="434501"/>
                    <a:pt x="0" y="408938"/>
                  </a:cubicBezTo>
                  <a:lnTo>
                    <a:pt x="0" y="46286"/>
                  </a:lnTo>
                  <a:cubicBezTo>
                    <a:pt x="0" y="20723"/>
                    <a:pt x="20723" y="0"/>
                    <a:pt x="46286" y="0"/>
                  </a:cubicBezTo>
                  <a:close/>
                </a:path>
              </a:pathLst>
            </a:custGeom>
            <a:ln w="19050" cap="rnd">
              <a:solidFill>
                <a:srgbClr val="FFFFFF"/>
              </a:solidFill>
              <a:prstDash val="solid"/>
              <a:round/>
            </a:ln>
          </p:spPr>
        </p:sp>
        <p:sp>
          <p:nvSpPr>
            <p:cNvPr name="TextBox 5" id="5"/>
            <p:cNvSpPr txBox="true"/>
            <p:nvPr/>
          </p:nvSpPr>
          <p:spPr>
            <a:xfrm>
              <a:off x="0" y="-38100"/>
              <a:ext cx="4405260" cy="493324"/>
            </a:xfrm>
            <a:prstGeom prst="rect">
              <a:avLst/>
            </a:prstGeom>
          </p:spPr>
          <p:txBody>
            <a:bodyPr anchor="ctr" rtlCol="false" tIns="50800" lIns="50800" bIns="50800" rIns="50800"/>
            <a:lstStyle/>
            <a:p>
              <a:pPr algn="ctr">
                <a:lnSpc>
                  <a:spcPts val="3359"/>
                </a:lnSpc>
              </a:pPr>
            </a:p>
          </p:txBody>
        </p:sp>
      </p:grpSp>
      <p:sp>
        <p:nvSpPr>
          <p:cNvPr name="Freeform 6" id="6"/>
          <p:cNvSpPr/>
          <p:nvPr/>
        </p:nvSpPr>
        <p:spPr>
          <a:xfrm flipH="false" flipV="false" rot="0">
            <a:off x="3137749" y="2596032"/>
            <a:ext cx="12012503" cy="7447752"/>
          </a:xfrm>
          <a:custGeom>
            <a:avLst/>
            <a:gdLst/>
            <a:ahLst/>
            <a:cxnLst/>
            <a:rect r="r" b="b" t="t" l="l"/>
            <a:pathLst>
              <a:path h="7447752" w="12012503">
                <a:moveTo>
                  <a:pt x="0" y="0"/>
                </a:moveTo>
                <a:lnTo>
                  <a:pt x="12012502" y="0"/>
                </a:lnTo>
                <a:lnTo>
                  <a:pt x="12012502" y="7447751"/>
                </a:lnTo>
                <a:lnTo>
                  <a:pt x="0" y="7447751"/>
                </a:lnTo>
                <a:lnTo>
                  <a:pt x="0" y="0"/>
                </a:lnTo>
                <a:close/>
              </a:path>
            </a:pathLst>
          </a:custGeom>
          <a:blipFill>
            <a:blip r:embed="rId3"/>
            <a:stretch>
              <a:fillRect l="0" t="0" r="0" b="0"/>
            </a:stretch>
          </a:blipFill>
        </p:spPr>
      </p:sp>
      <p:sp>
        <p:nvSpPr>
          <p:cNvPr name="TextBox 7" id="7"/>
          <p:cNvSpPr txBox="true"/>
          <p:nvPr/>
        </p:nvSpPr>
        <p:spPr>
          <a:xfrm rot="0">
            <a:off x="2724671" y="1175907"/>
            <a:ext cx="12838658" cy="999489"/>
          </a:xfrm>
          <a:prstGeom prst="rect">
            <a:avLst/>
          </a:prstGeom>
        </p:spPr>
        <p:txBody>
          <a:bodyPr anchor="t" rtlCol="false" tIns="0" lIns="0" bIns="0" rIns="0">
            <a:spAutoFit/>
          </a:bodyPr>
          <a:lstStyle/>
          <a:p>
            <a:pPr algn="ctr">
              <a:lnSpc>
                <a:spcPts val="7039"/>
              </a:lnSpc>
            </a:pPr>
            <a:r>
              <a:rPr lang="en-US" b="true" sz="8799">
                <a:solidFill>
                  <a:srgbClr val="FFFFFF"/>
                </a:solidFill>
                <a:latin typeface="Body Grotesque Bold"/>
                <a:ea typeface="Body Grotesque Bold"/>
                <a:cs typeface="Body Grotesque Bold"/>
                <a:sym typeface="Body Grotesque Bold"/>
              </a:rPr>
              <a:t>hasil naive bayes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4E94B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alphaModFix amt="50000"/>
            </a:blip>
            <a:stretch>
              <a:fillRect l="0" t="-9222" r="0" b="-9222"/>
            </a:stretch>
          </a:blipFill>
        </p:spPr>
      </p:sp>
      <p:grpSp>
        <p:nvGrpSpPr>
          <p:cNvPr name="Group 3" id="3"/>
          <p:cNvGrpSpPr/>
          <p:nvPr/>
        </p:nvGrpSpPr>
        <p:grpSpPr>
          <a:xfrm rot="0">
            <a:off x="780890" y="644750"/>
            <a:ext cx="16726220" cy="1728429"/>
            <a:chOff x="0" y="0"/>
            <a:chExt cx="4405260" cy="455224"/>
          </a:xfrm>
        </p:grpSpPr>
        <p:sp>
          <p:nvSpPr>
            <p:cNvPr name="Freeform 4" id="4"/>
            <p:cNvSpPr/>
            <p:nvPr/>
          </p:nvSpPr>
          <p:spPr>
            <a:xfrm flipH="false" flipV="false" rot="0">
              <a:off x="0" y="0"/>
              <a:ext cx="4405260" cy="455224"/>
            </a:xfrm>
            <a:custGeom>
              <a:avLst/>
              <a:gdLst/>
              <a:ahLst/>
              <a:cxnLst/>
              <a:rect r="r" b="b" t="t" l="l"/>
              <a:pathLst>
                <a:path h="455224" w="4405260">
                  <a:moveTo>
                    <a:pt x="46286" y="0"/>
                  </a:moveTo>
                  <a:lnTo>
                    <a:pt x="4358974" y="0"/>
                  </a:lnTo>
                  <a:cubicBezTo>
                    <a:pt x="4384537" y="0"/>
                    <a:pt x="4405260" y="20723"/>
                    <a:pt x="4405260" y="46286"/>
                  </a:cubicBezTo>
                  <a:lnTo>
                    <a:pt x="4405260" y="408938"/>
                  </a:lnTo>
                  <a:cubicBezTo>
                    <a:pt x="4405260" y="434501"/>
                    <a:pt x="4384537" y="455224"/>
                    <a:pt x="4358974" y="455224"/>
                  </a:cubicBezTo>
                  <a:lnTo>
                    <a:pt x="46286" y="455224"/>
                  </a:lnTo>
                  <a:cubicBezTo>
                    <a:pt x="20723" y="455224"/>
                    <a:pt x="0" y="434501"/>
                    <a:pt x="0" y="408938"/>
                  </a:cubicBezTo>
                  <a:lnTo>
                    <a:pt x="0" y="46286"/>
                  </a:lnTo>
                  <a:cubicBezTo>
                    <a:pt x="0" y="20723"/>
                    <a:pt x="20723" y="0"/>
                    <a:pt x="46286" y="0"/>
                  </a:cubicBezTo>
                  <a:close/>
                </a:path>
              </a:pathLst>
            </a:custGeom>
            <a:ln w="19050" cap="rnd">
              <a:solidFill>
                <a:srgbClr val="FFFFFF"/>
              </a:solidFill>
              <a:prstDash val="solid"/>
              <a:round/>
            </a:ln>
          </p:spPr>
        </p:sp>
        <p:sp>
          <p:nvSpPr>
            <p:cNvPr name="TextBox 5" id="5"/>
            <p:cNvSpPr txBox="true"/>
            <p:nvPr/>
          </p:nvSpPr>
          <p:spPr>
            <a:xfrm>
              <a:off x="0" y="-38100"/>
              <a:ext cx="4405260" cy="493324"/>
            </a:xfrm>
            <a:prstGeom prst="rect">
              <a:avLst/>
            </a:prstGeom>
          </p:spPr>
          <p:txBody>
            <a:bodyPr anchor="ctr" rtlCol="false" tIns="50800" lIns="50800" bIns="50800" rIns="50800"/>
            <a:lstStyle/>
            <a:p>
              <a:pPr algn="ctr">
                <a:lnSpc>
                  <a:spcPts val="3359"/>
                </a:lnSpc>
              </a:pPr>
            </a:p>
          </p:txBody>
        </p:sp>
      </p:grpSp>
      <p:sp>
        <p:nvSpPr>
          <p:cNvPr name="Freeform 6" id="6"/>
          <p:cNvSpPr/>
          <p:nvPr/>
        </p:nvSpPr>
        <p:spPr>
          <a:xfrm flipH="false" flipV="false" rot="0">
            <a:off x="2111320" y="2464610"/>
            <a:ext cx="14065360" cy="7577712"/>
          </a:xfrm>
          <a:custGeom>
            <a:avLst/>
            <a:gdLst/>
            <a:ahLst/>
            <a:cxnLst/>
            <a:rect r="r" b="b" t="t" l="l"/>
            <a:pathLst>
              <a:path h="7577712" w="14065360">
                <a:moveTo>
                  <a:pt x="0" y="0"/>
                </a:moveTo>
                <a:lnTo>
                  <a:pt x="14065360" y="0"/>
                </a:lnTo>
                <a:lnTo>
                  <a:pt x="14065360" y="7577713"/>
                </a:lnTo>
                <a:lnTo>
                  <a:pt x="0" y="7577713"/>
                </a:lnTo>
                <a:lnTo>
                  <a:pt x="0" y="0"/>
                </a:lnTo>
                <a:close/>
              </a:path>
            </a:pathLst>
          </a:custGeom>
          <a:blipFill>
            <a:blip r:embed="rId3"/>
            <a:stretch>
              <a:fillRect l="0" t="0" r="0" b="0"/>
            </a:stretch>
          </a:blipFill>
        </p:spPr>
      </p:sp>
      <p:sp>
        <p:nvSpPr>
          <p:cNvPr name="TextBox 7" id="7"/>
          <p:cNvSpPr txBox="true"/>
          <p:nvPr/>
        </p:nvSpPr>
        <p:spPr>
          <a:xfrm rot="0">
            <a:off x="1905095" y="1175907"/>
            <a:ext cx="15354205" cy="999489"/>
          </a:xfrm>
          <a:prstGeom prst="rect">
            <a:avLst/>
          </a:prstGeom>
        </p:spPr>
        <p:txBody>
          <a:bodyPr anchor="t" rtlCol="false" tIns="0" lIns="0" bIns="0" rIns="0">
            <a:spAutoFit/>
          </a:bodyPr>
          <a:lstStyle/>
          <a:p>
            <a:pPr algn="ctr">
              <a:lnSpc>
                <a:spcPts val="7039"/>
              </a:lnSpc>
            </a:pPr>
            <a:r>
              <a:rPr lang="en-US" b="true" sz="8799">
                <a:solidFill>
                  <a:srgbClr val="FFFFFF"/>
                </a:solidFill>
                <a:latin typeface="Body Grotesque Bold"/>
                <a:ea typeface="Body Grotesque Bold"/>
                <a:cs typeface="Body Grotesque Bold"/>
                <a:sym typeface="Body Grotesque Bold"/>
              </a:rPr>
              <a:t>hasil prediksi naive bayes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4E94B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alphaModFix amt="50000"/>
            </a:blip>
            <a:stretch>
              <a:fillRect l="0" t="-9222" r="0" b="-9222"/>
            </a:stretch>
          </a:blipFill>
        </p:spPr>
      </p:sp>
      <p:grpSp>
        <p:nvGrpSpPr>
          <p:cNvPr name="Group 3" id="3"/>
          <p:cNvGrpSpPr/>
          <p:nvPr/>
        </p:nvGrpSpPr>
        <p:grpSpPr>
          <a:xfrm rot="0">
            <a:off x="780890" y="644750"/>
            <a:ext cx="16726220" cy="1728429"/>
            <a:chOff x="0" y="0"/>
            <a:chExt cx="4405260" cy="455224"/>
          </a:xfrm>
        </p:grpSpPr>
        <p:sp>
          <p:nvSpPr>
            <p:cNvPr name="Freeform 4" id="4"/>
            <p:cNvSpPr/>
            <p:nvPr/>
          </p:nvSpPr>
          <p:spPr>
            <a:xfrm flipH="false" flipV="false" rot="0">
              <a:off x="0" y="0"/>
              <a:ext cx="4405260" cy="455224"/>
            </a:xfrm>
            <a:custGeom>
              <a:avLst/>
              <a:gdLst/>
              <a:ahLst/>
              <a:cxnLst/>
              <a:rect r="r" b="b" t="t" l="l"/>
              <a:pathLst>
                <a:path h="455224" w="4405260">
                  <a:moveTo>
                    <a:pt x="46286" y="0"/>
                  </a:moveTo>
                  <a:lnTo>
                    <a:pt x="4358974" y="0"/>
                  </a:lnTo>
                  <a:cubicBezTo>
                    <a:pt x="4384537" y="0"/>
                    <a:pt x="4405260" y="20723"/>
                    <a:pt x="4405260" y="46286"/>
                  </a:cubicBezTo>
                  <a:lnTo>
                    <a:pt x="4405260" y="408938"/>
                  </a:lnTo>
                  <a:cubicBezTo>
                    <a:pt x="4405260" y="434501"/>
                    <a:pt x="4384537" y="455224"/>
                    <a:pt x="4358974" y="455224"/>
                  </a:cubicBezTo>
                  <a:lnTo>
                    <a:pt x="46286" y="455224"/>
                  </a:lnTo>
                  <a:cubicBezTo>
                    <a:pt x="20723" y="455224"/>
                    <a:pt x="0" y="434501"/>
                    <a:pt x="0" y="408938"/>
                  </a:cubicBezTo>
                  <a:lnTo>
                    <a:pt x="0" y="46286"/>
                  </a:lnTo>
                  <a:cubicBezTo>
                    <a:pt x="0" y="20723"/>
                    <a:pt x="20723" y="0"/>
                    <a:pt x="46286" y="0"/>
                  </a:cubicBezTo>
                  <a:close/>
                </a:path>
              </a:pathLst>
            </a:custGeom>
            <a:ln w="19050" cap="rnd">
              <a:solidFill>
                <a:srgbClr val="FFFFFF"/>
              </a:solidFill>
              <a:prstDash val="solid"/>
              <a:round/>
            </a:ln>
          </p:spPr>
        </p:sp>
        <p:sp>
          <p:nvSpPr>
            <p:cNvPr name="TextBox 5" id="5"/>
            <p:cNvSpPr txBox="true"/>
            <p:nvPr/>
          </p:nvSpPr>
          <p:spPr>
            <a:xfrm>
              <a:off x="0" y="-38100"/>
              <a:ext cx="4405260" cy="493324"/>
            </a:xfrm>
            <a:prstGeom prst="rect">
              <a:avLst/>
            </a:prstGeom>
          </p:spPr>
          <p:txBody>
            <a:bodyPr anchor="ctr" rtlCol="false" tIns="50800" lIns="50800" bIns="50800" rIns="50800"/>
            <a:lstStyle/>
            <a:p>
              <a:pPr algn="ctr">
                <a:lnSpc>
                  <a:spcPts val="3359"/>
                </a:lnSpc>
              </a:pPr>
            </a:p>
          </p:txBody>
        </p:sp>
      </p:grpSp>
      <p:sp>
        <p:nvSpPr>
          <p:cNvPr name="Freeform 6" id="6"/>
          <p:cNvSpPr/>
          <p:nvPr/>
        </p:nvSpPr>
        <p:spPr>
          <a:xfrm flipH="false" flipV="false" rot="0">
            <a:off x="1028700" y="4075510"/>
            <a:ext cx="16230600" cy="3321113"/>
          </a:xfrm>
          <a:custGeom>
            <a:avLst/>
            <a:gdLst/>
            <a:ahLst/>
            <a:cxnLst/>
            <a:rect r="r" b="b" t="t" l="l"/>
            <a:pathLst>
              <a:path h="3321113" w="16230600">
                <a:moveTo>
                  <a:pt x="0" y="0"/>
                </a:moveTo>
                <a:lnTo>
                  <a:pt x="16230600" y="0"/>
                </a:lnTo>
                <a:lnTo>
                  <a:pt x="16230600" y="3321113"/>
                </a:lnTo>
                <a:lnTo>
                  <a:pt x="0" y="3321113"/>
                </a:lnTo>
                <a:lnTo>
                  <a:pt x="0" y="0"/>
                </a:lnTo>
                <a:close/>
              </a:path>
            </a:pathLst>
          </a:custGeom>
          <a:blipFill>
            <a:blip r:embed="rId3"/>
            <a:stretch>
              <a:fillRect l="0" t="0" r="0" b="0"/>
            </a:stretch>
          </a:blipFill>
        </p:spPr>
      </p:sp>
      <p:sp>
        <p:nvSpPr>
          <p:cNvPr name="TextBox 7" id="7"/>
          <p:cNvSpPr txBox="true"/>
          <p:nvPr/>
        </p:nvSpPr>
        <p:spPr>
          <a:xfrm rot="0">
            <a:off x="1905095" y="1175907"/>
            <a:ext cx="15354205" cy="999489"/>
          </a:xfrm>
          <a:prstGeom prst="rect">
            <a:avLst/>
          </a:prstGeom>
        </p:spPr>
        <p:txBody>
          <a:bodyPr anchor="t" rtlCol="false" tIns="0" lIns="0" bIns="0" rIns="0">
            <a:spAutoFit/>
          </a:bodyPr>
          <a:lstStyle/>
          <a:p>
            <a:pPr algn="ctr">
              <a:lnSpc>
                <a:spcPts val="7039"/>
              </a:lnSpc>
            </a:pPr>
            <a:r>
              <a:rPr lang="en-US" b="true" sz="8799">
                <a:solidFill>
                  <a:srgbClr val="FFFFFF"/>
                </a:solidFill>
                <a:latin typeface="Body Grotesque Bold"/>
                <a:ea typeface="Body Grotesque Bold"/>
                <a:cs typeface="Body Grotesque Bold"/>
                <a:sym typeface="Body Grotesque Bold"/>
              </a:rPr>
              <a:t>hasil confusion_matrix</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4E94B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alphaModFix amt="50000"/>
            </a:blip>
            <a:stretch>
              <a:fillRect l="0" t="-9222" r="0" b="-9222"/>
            </a:stretch>
          </a:blipFill>
        </p:spPr>
      </p:sp>
      <p:grpSp>
        <p:nvGrpSpPr>
          <p:cNvPr name="Group 3" id="3"/>
          <p:cNvGrpSpPr/>
          <p:nvPr/>
        </p:nvGrpSpPr>
        <p:grpSpPr>
          <a:xfrm rot="0">
            <a:off x="780890" y="644750"/>
            <a:ext cx="16726220" cy="1728429"/>
            <a:chOff x="0" y="0"/>
            <a:chExt cx="4405260" cy="455224"/>
          </a:xfrm>
        </p:grpSpPr>
        <p:sp>
          <p:nvSpPr>
            <p:cNvPr name="Freeform 4" id="4"/>
            <p:cNvSpPr/>
            <p:nvPr/>
          </p:nvSpPr>
          <p:spPr>
            <a:xfrm flipH="false" flipV="false" rot="0">
              <a:off x="0" y="0"/>
              <a:ext cx="4405260" cy="455224"/>
            </a:xfrm>
            <a:custGeom>
              <a:avLst/>
              <a:gdLst/>
              <a:ahLst/>
              <a:cxnLst/>
              <a:rect r="r" b="b" t="t" l="l"/>
              <a:pathLst>
                <a:path h="455224" w="4405260">
                  <a:moveTo>
                    <a:pt x="46286" y="0"/>
                  </a:moveTo>
                  <a:lnTo>
                    <a:pt x="4358974" y="0"/>
                  </a:lnTo>
                  <a:cubicBezTo>
                    <a:pt x="4384537" y="0"/>
                    <a:pt x="4405260" y="20723"/>
                    <a:pt x="4405260" y="46286"/>
                  </a:cubicBezTo>
                  <a:lnTo>
                    <a:pt x="4405260" y="408938"/>
                  </a:lnTo>
                  <a:cubicBezTo>
                    <a:pt x="4405260" y="434501"/>
                    <a:pt x="4384537" y="455224"/>
                    <a:pt x="4358974" y="455224"/>
                  </a:cubicBezTo>
                  <a:lnTo>
                    <a:pt x="46286" y="455224"/>
                  </a:lnTo>
                  <a:cubicBezTo>
                    <a:pt x="20723" y="455224"/>
                    <a:pt x="0" y="434501"/>
                    <a:pt x="0" y="408938"/>
                  </a:cubicBezTo>
                  <a:lnTo>
                    <a:pt x="0" y="46286"/>
                  </a:lnTo>
                  <a:cubicBezTo>
                    <a:pt x="0" y="20723"/>
                    <a:pt x="20723" y="0"/>
                    <a:pt x="46286" y="0"/>
                  </a:cubicBezTo>
                  <a:close/>
                </a:path>
              </a:pathLst>
            </a:custGeom>
            <a:ln w="19050" cap="rnd">
              <a:solidFill>
                <a:srgbClr val="FFFFFF"/>
              </a:solidFill>
              <a:prstDash val="solid"/>
              <a:round/>
            </a:ln>
          </p:spPr>
        </p:sp>
        <p:sp>
          <p:nvSpPr>
            <p:cNvPr name="TextBox 5" id="5"/>
            <p:cNvSpPr txBox="true"/>
            <p:nvPr/>
          </p:nvSpPr>
          <p:spPr>
            <a:xfrm>
              <a:off x="0" y="-38100"/>
              <a:ext cx="4405260" cy="493324"/>
            </a:xfrm>
            <a:prstGeom prst="rect">
              <a:avLst/>
            </a:prstGeom>
          </p:spPr>
          <p:txBody>
            <a:bodyPr anchor="ctr" rtlCol="false" tIns="50800" lIns="50800" bIns="50800" rIns="50800"/>
            <a:lstStyle/>
            <a:p>
              <a:pPr algn="ctr">
                <a:lnSpc>
                  <a:spcPts val="3359"/>
                </a:lnSpc>
              </a:pPr>
            </a:p>
          </p:txBody>
        </p:sp>
      </p:grpSp>
      <p:sp>
        <p:nvSpPr>
          <p:cNvPr name="Freeform 6" id="6"/>
          <p:cNvSpPr/>
          <p:nvPr/>
        </p:nvSpPr>
        <p:spPr>
          <a:xfrm flipH="false" flipV="false" rot="0">
            <a:off x="1215556" y="3886484"/>
            <a:ext cx="15953658" cy="3996344"/>
          </a:xfrm>
          <a:custGeom>
            <a:avLst/>
            <a:gdLst/>
            <a:ahLst/>
            <a:cxnLst/>
            <a:rect r="r" b="b" t="t" l="l"/>
            <a:pathLst>
              <a:path h="3996344" w="15953658">
                <a:moveTo>
                  <a:pt x="0" y="0"/>
                </a:moveTo>
                <a:lnTo>
                  <a:pt x="15953658" y="0"/>
                </a:lnTo>
                <a:lnTo>
                  <a:pt x="15953658" y="3996344"/>
                </a:lnTo>
                <a:lnTo>
                  <a:pt x="0" y="3996344"/>
                </a:lnTo>
                <a:lnTo>
                  <a:pt x="0" y="0"/>
                </a:lnTo>
                <a:close/>
              </a:path>
            </a:pathLst>
          </a:custGeom>
          <a:blipFill>
            <a:blip r:embed="rId3"/>
            <a:stretch>
              <a:fillRect l="0" t="0" r="0" b="0"/>
            </a:stretch>
          </a:blipFill>
        </p:spPr>
      </p:sp>
      <p:sp>
        <p:nvSpPr>
          <p:cNvPr name="TextBox 7" id="7"/>
          <p:cNvSpPr txBox="true"/>
          <p:nvPr/>
        </p:nvSpPr>
        <p:spPr>
          <a:xfrm rot="0">
            <a:off x="1905095" y="1175907"/>
            <a:ext cx="15354205" cy="999489"/>
          </a:xfrm>
          <a:prstGeom prst="rect">
            <a:avLst/>
          </a:prstGeom>
        </p:spPr>
        <p:txBody>
          <a:bodyPr anchor="t" rtlCol="false" tIns="0" lIns="0" bIns="0" rIns="0">
            <a:spAutoFit/>
          </a:bodyPr>
          <a:lstStyle/>
          <a:p>
            <a:pPr algn="ctr">
              <a:lnSpc>
                <a:spcPts val="7039"/>
              </a:lnSpc>
            </a:pPr>
            <a:r>
              <a:rPr lang="en-US" b="true" sz="8799">
                <a:solidFill>
                  <a:srgbClr val="FFFFFF"/>
                </a:solidFill>
                <a:latin typeface="Body Grotesque Bold"/>
                <a:ea typeface="Body Grotesque Bold"/>
                <a:cs typeface="Body Grotesque Bold"/>
                <a:sym typeface="Body Grotesque Bold"/>
              </a:rPr>
              <a:t>hasil classification_report</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5603543" y="4409933"/>
            <a:ext cx="7080913" cy="1705259"/>
          </a:xfrm>
          <a:prstGeom prst="rect">
            <a:avLst/>
          </a:prstGeom>
        </p:spPr>
        <p:txBody>
          <a:bodyPr anchor="t" rtlCol="false" tIns="0" lIns="0" bIns="0" rIns="0">
            <a:spAutoFit/>
          </a:bodyPr>
          <a:lstStyle/>
          <a:p>
            <a:pPr algn="ctr">
              <a:lnSpc>
                <a:spcPts val="12761"/>
              </a:lnSpc>
            </a:pPr>
            <a:r>
              <a:rPr lang="en-US" b="true" sz="12761">
                <a:solidFill>
                  <a:srgbClr val="FFFFFF"/>
                </a:solidFill>
                <a:latin typeface="Body Grotesque Bold"/>
                <a:ea typeface="Body Grotesque Bold"/>
                <a:cs typeface="Body Grotesque Bold"/>
                <a:sym typeface="Body Grotesque Bold"/>
              </a:rPr>
              <a:t>Thanks</a:t>
            </a:r>
          </a:p>
        </p:txBody>
      </p:sp>
      <p:grpSp>
        <p:nvGrpSpPr>
          <p:cNvPr name="Group 4" id="4"/>
          <p:cNvGrpSpPr/>
          <p:nvPr/>
        </p:nvGrpSpPr>
        <p:grpSpPr>
          <a:xfrm rot="0">
            <a:off x="780890" y="644750"/>
            <a:ext cx="16726220" cy="767901"/>
            <a:chOff x="0" y="0"/>
            <a:chExt cx="4405260" cy="202245"/>
          </a:xfrm>
        </p:grpSpPr>
        <p:sp>
          <p:nvSpPr>
            <p:cNvPr name="Freeform 5" id="5"/>
            <p:cNvSpPr/>
            <p:nvPr/>
          </p:nvSpPr>
          <p:spPr>
            <a:xfrm flipH="false" flipV="false" rot="0">
              <a:off x="0" y="0"/>
              <a:ext cx="4405260" cy="202245"/>
            </a:xfrm>
            <a:custGeom>
              <a:avLst/>
              <a:gdLst/>
              <a:ahLst/>
              <a:cxnLst/>
              <a:rect r="r" b="b" t="t" l="l"/>
              <a:pathLst>
                <a:path h="202245" w="4405260">
                  <a:moveTo>
                    <a:pt x="46286" y="0"/>
                  </a:moveTo>
                  <a:lnTo>
                    <a:pt x="4358974" y="0"/>
                  </a:lnTo>
                  <a:cubicBezTo>
                    <a:pt x="4384537" y="0"/>
                    <a:pt x="4405260" y="20723"/>
                    <a:pt x="4405260" y="46286"/>
                  </a:cubicBezTo>
                  <a:lnTo>
                    <a:pt x="4405260" y="155959"/>
                  </a:lnTo>
                  <a:cubicBezTo>
                    <a:pt x="4405260" y="168235"/>
                    <a:pt x="4400383" y="180008"/>
                    <a:pt x="4391703" y="188689"/>
                  </a:cubicBezTo>
                  <a:cubicBezTo>
                    <a:pt x="4383022" y="197369"/>
                    <a:pt x="4371249" y="202245"/>
                    <a:pt x="4358974" y="202245"/>
                  </a:cubicBezTo>
                  <a:lnTo>
                    <a:pt x="46286" y="202245"/>
                  </a:lnTo>
                  <a:cubicBezTo>
                    <a:pt x="20723" y="202245"/>
                    <a:pt x="0" y="181522"/>
                    <a:pt x="0" y="155959"/>
                  </a:cubicBezTo>
                  <a:lnTo>
                    <a:pt x="0" y="46286"/>
                  </a:lnTo>
                  <a:cubicBezTo>
                    <a:pt x="0" y="20723"/>
                    <a:pt x="20723" y="0"/>
                    <a:pt x="46286" y="0"/>
                  </a:cubicBezTo>
                  <a:close/>
                </a:path>
              </a:pathLst>
            </a:custGeom>
            <a:ln w="19050" cap="rnd">
              <a:solidFill>
                <a:srgbClr val="FFFFFF"/>
              </a:solidFill>
              <a:prstDash val="solid"/>
              <a:round/>
            </a:ln>
          </p:spPr>
        </p:sp>
        <p:sp>
          <p:nvSpPr>
            <p:cNvPr name="TextBox 6" id="6"/>
            <p:cNvSpPr txBox="true"/>
            <p:nvPr/>
          </p:nvSpPr>
          <p:spPr>
            <a:xfrm>
              <a:off x="0" y="-38100"/>
              <a:ext cx="4405260" cy="240345"/>
            </a:xfrm>
            <a:prstGeom prst="rect">
              <a:avLst/>
            </a:prstGeom>
          </p:spPr>
          <p:txBody>
            <a:bodyPr anchor="ctr" rtlCol="false" tIns="50800" lIns="50800" bIns="50800" rIns="50800"/>
            <a:lstStyle/>
            <a:p>
              <a:pPr algn="ctr">
                <a:lnSpc>
                  <a:spcPts val="3359"/>
                </a:lnSpc>
              </a:pPr>
            </a:p>
          </p:txBody>
        </p:sp>
      </p:grpSp>
      <p:sp>
        <p:nvSpPr>
          <p:cNvPr name="TextBox 7" id="7"/>
          <p:cNvSpPr txBox="true"/>
          <p:nvPr/>
        </p:nvSpPr>
        <p:spPr>
          <a:xfrm rot="0">
            <a:off x="6185632" y="840105"/>
            <a:ext cx="5916735" cy="396240"/>
          </a:xfrm>
          <a:prstGeom prst="rect">
            <a:avLst/>
          </a:prstGeom>
        </p:spPr>
        <p:txBody>
          <a:bodyPr anchor="t" rtlCol="false" tIns="0" lIns="0" bIns="0" rIns="0">
            <a:spAutoFit/>
          </a:bodyPr>
          <a:lstStyle/>
          <a:p>
            <a:pPr algn="ctr">
              <a:lnSpc>
                <a:spcPts val="3359"/>
              </a:lnSpc>
            </a:pPr>
            <a:r>
              <a:rPr lang="en-US" sz="2400" spc="96">
                <a:solidFill>
                  <a:srgbClr val="FFFFFF"/>
                </a:solidFill>
                <a:latin typeface="Body Grotesque"/>
                <a:ea typeface="Body Grotesque"/>
                <a:cs typeface="Body Grotesque"/>
                <a:sym typeface="Body Grotesque"/>
              </a:rPr>
              <a:t>MOCH. HUDA / 2318081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DAHGeIPV9Fo</dc:identifier>
  <dcterms:modified xsi:type="dcterms:W3CDTF">2011-08-01T06:04:30Z</dcterms:modified>
  <cp:revision>1</cp:revision>
  <dc:title>Blue and White Modern Gradient Corporate Project Proposal Presentation</dc:title>
</cp:coreProperties>
</file>