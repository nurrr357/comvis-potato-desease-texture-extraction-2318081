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League Spartan" charset="1" panose="00000800000000000000"/>
      <p:regular r:id="rId14"/>
    </p:embeddedFont>
    <p:embeddedFont>
      <p:font typeface="Museo Moderno" charset="1" panose="00000000000000000000"/>
      <p:regular r:id="rId15"/>
    </p:embeddedFont>
    <p:embeddedFont>
      <p:font typeface="Poppins" charset="1" panose="000005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028700" y="1663766"/>
            <a:ext cx="16230600" cy="3417289"/>
          </a:xfrm>
          <a:prstGeom prst="rect">
            <a:avLst/>
          </a:prstGeom>
        </p:spPr>
        <p:txBody>
          <a:bodyPr anchor="t" rtlCol="false" tIns="0" lIns="0" bIns="0" rIns="0">
            <a:spAutoFit/>
          </a:bodyPr>
          <a:lstStyle/>
          <a:p>
            <a:pPr algn="l">
              <a:lnSpc>
                <a:spcPts val="25299"/>
              </a:lnSpc>
            </a:pPr>
            <a:r>
              <a:rPr lang="en-US" sz="26631" spc="-479">
                <a:solidFill>
                  <a:srgbClr val="566660"/>
                </a:solidFill>
                <a:latin typeface="League Spartan"/>
                <a:ea typeface="League Spartan"/>
                <a:cs typeface="League Spartan"/>
                <a:sym typeface="League Spartan"/>
              </a:rPr>
              <a:t>COMVIS</a:t>
            </a:r>
          </a:p>
        </p:txBody>
      </p:sp>
      <p:sp>
        <p:nvSpPr>
          <p:cNvPr name="TextBox 3" id="3"/>
          <p:cNvSpPr txBox="true"/>
          <p:nvPr/>
        </p:nvSpPr>
        <p:spPr>
          <a:xfrm rot="0">
            <a:off x="1028700" y="4486635"/>
            <a:ext cx="8698126" cy="3718222"/>
          </a:xfrm>
          <a:prstGeom prst="rect">
            <a:avLst/>
          </a:prstGeom>
        </p:spPr>
        <p:txBody>
          <a:bodyPr anchor="t" rtlCol="false" tIns="0" lIns="0" bIns="0" rIns="0">
            <a:spAutoFit/>
          </a:bodyPr>
          <a:lstStyle/>
          <a:p>
            <a:pPr algn="l">
              <a:lnSpc>
                <a:spcPts val="7228"/>
              </a:lnSpc>
            </a:pPr>
            <a:r>
              <a:rPr lang="en-US" sz="7609" spc="-608">
                <a:solidFill>
                  <a:srgbClr val="566660"/>
                </a:solidFill>
                <a:latin typeface="Museo Moderno"/>
                <a:ea typeface="Museo Moderno"/>
                <a:cs typeface="Museo Moderno"/>
                <a:sym typeface="Museo Moderno"/>
              </a:rPr>
              <a:t>EKSTRAKSI FITUR WARNA &amp; PIXEL PADA DATASET BUNGA</a:t>
            </a:r>
          </a:p>
        </p:txBody>
      </p:sp>
      <p:grpSp>
        <p:nvGrpSpPr>
          <p:cNvPr name="Group 4" id="4"/>
          <p:cNvGrpSpPr/>
          <p:nvPr/>
        </p:nvGrpSpPr>
        <p:grpSpPr>
          <a:xfrm rot="0">
            <a:off x="10499760" y="4719352"/>
            <a:ext cx="7788240" cy="5567648"/>
            <a:chOff x="0" y="0"/>
            <a:chExt cx="1206602" cy="862574"/>
          </a:xfrm>
        </p:grpSpPr>
        <p:sp>
          <p:nvSpPr>
            <p:cNvPr name="Freeform 5" id="5"/>
            <p:cNvSpPr/>
            <p:nvPr/>
          </p:nvSpPr>
          <p:spPr>
            <a:xfrm flipH="false" flipV="false" rot="0">
              <a:off x="0" y="0"/>
              <a:ext cx="1206602" cy="862574"/>
            </a:xfrm>
            <a:custGeom>
              <a:avLst/>
              <a:gdLst/>
              <a:ahLst/>
              <a:cxnLst/>
              <a:rect r="r" b="b" t="t" l="l"/>
              <a:pathLst>
                <a:path h="862574" w="1206602">
                  <a:moveTo>
                    <a:pt x="0" y="0"/>
                  </a:moveTo>
                  <a:lnTo>
                    <a:pt x="1206602" y="0"/>
                  </a:lnTo>
                  <a:lnTo>
                    <a:pt x="1206602" y="862574"/>
                  </a:lnTo>
                  <a:lnTo>
                    <a:pt x="0" y="862574"/>
                  </a:lnTo>
                  <a:close/>
                </a:path>
              </a:pathLst>
            </a:custGeom>
            <a:blipFill>
              <a:blip r:embed="rId2"/>
              <a:stretch>
                <a:fillRect l="0" t="-19941" r="0" b="-19941"/>
              </a:stretch>
            </a:blipFill>
            <a:ln cap="sq">
              <a:noFill/>
              <a:prstDash val="solid"/>
              <a:miter/>
            </a:ln>
          </p:spPr>
        </p:sp>
      </p:grpSp>
      <p:sp>
        <p:nvSpPr>
          <p:cNvPr name="TextBox 6" id="6"/>
          <p:cNvSpPr txBox="true"/>
          <p:nvPr/>
        </p:nvSpPr>
        <p:spPr>
          <a:xfrm rot="0">
            <a:off x="1028700" y="8281057"/>
            <a:ext cx="2281745" cy="509905"/>
          </a:xfrm>
          <a:prstGeom prst="rect">
            <a:avLst/>
          </a:prstGeom>
        </p:spPr>
        <p:txBody>
          <a:bodyPr anchor="t" rtlCol="false" tIns="0" lIns="0" bIns="0" rIns="0">
            <a:spAutoFit/>
          </a:bodyPr>
          <a:lstStyle/>
          <a:p>
            <a:pPr algn="l">
              <a:lnSpc>
                <a:spcPts val="3919"/>
              </a:lnSpc>
            </a:pPr>
            <a:r>
              <a:rPr lang="en-US" sz="2799" spc="-167">
                <a:solidFill>
                  <a:srgbClr val="566660"/>
                </a:solidFill>
                <a:latin typeface="Poppins"/>
                <a:ea typeface="Poppins"/>
                <a:cs typeface="Poppins"/>
                <a:sym typeface="Poppins"/>
              </a:rPr>
              <a:t>presented by</a:t>
            </a:r>
          </a:p>
        </p:txBody>
      </p:sp>
      <p:sp>
        <p:nvSpPr>
          <p:cNvPr name="TextBox 7" id="7"/>
          <p:cNvSpPr txBox="true"/>
          <p:nvPr/>
        </p:nvSpPr>
        <p:spPr>
          <a:xfrm rot="0">
            <a:off x="1028700" y="8899525"/>
            <a:ext cx="5508978" cy="358775"/>
          </a:xfrm>
          <a:prstGeom prst="rect">
            <a:avLst/>
          </a:prstGeom>
        </p:spPr>
        <p:txBody>
          <a:bodyPr anchor="t" rtlCol="false" tIns="0" lIns="0" bIns="0" rIns="0">
            <a:spAutoFit/>
          </a:bodyPr>
          <a:lstStyle/>
          <a:p>
            <a:pPr algn="l">
              <a:lnSpc>
                <a:spcPts val="2799"/>
              </a:lnSpc>
            </a:pPr>
            <a:r>
              <a:rPr lang="en-US" sz="1999" spc="-99">
                <a:solidFill>
                  <a:srgbClr val="566660"/>
                </a:solidFill>
                <a:latin typeface="Poppins"/>
                <a:ea typeface="Poppins"/>
                <a:cs typeface="Poppins"/>
                <a:sym typeface="Poppins"/>
              </a:rPr>
              <a:t>Moch. Huda (2318081)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0499760" y="425982"/>
            <a:ext cx="7363154" cy="8832318"/>
            <a:chOff x="0" y="0"/>
            <a:chExt cx="1140745" cy="1368357"/>
          </a:xfrm>
        </p:grpSpPr>
        <p:sp>
          <p:nvSpPr>
            <p:cNvPr name="Freeform 3" id="3"/>
            <p:cNvSpPr/>
            <p:nvPr/>
          </p:nvSpPr>
          <p:spPr>
            <a:xfrm flipH="false" flipV="false" rot="0">
              <a:off x="0" y="0"/>
              <a:ext cx="1140745" cy="1368357"/>
            </a:xfrm>
            <a:custGeom>
              <a:avLst/>
              <a:gdLst/>
              <a:ahLst/>
              <a:cxnLst/>
              <a:rect r="r" b="b" t="t" l="l"/>
              <a:pathLst>
                <a:path h="1368357" w="1140745">
                  <a:moveTo>
                    <a:pt x="0" y="0"/>
                  </a:moveTo>
                  <a:lnTo>
                    <a:pt x="1140745" y="0"/>
                  </a:lnTo>
                  <a:lnTo>
                    <a:pt x="1140745" y="1368357"/>
                  </a:lnTo>
                  <a:lnTo>
                    <a:pt x="0" y="1368357"/>
                  </a:lnTo>
                  <a:close/>
                </a:path>
              </a:pathLst>
            </a:custGeom>
            <a:blipFill>
              <a:blip r:embed="rId2"/>
              <a:stretch>
                <a:fillRect l="0" t="-12681" r="0" b="-12681"/>
              </a:stretch>
            </a:blipFill>
            <a:ln cap="sq">
              <a:noFill/>
              <a:prstDash val="solid"/>
              <a:miter/>
            </a:ln>
          </p:spPr>
        </p:sp>
      </p:grpSp>
      <p:sp>
        <p:nvSpPr>
          <p:cNvPr name="TextBox 4" id="4"/>
          <p:cNvSpPr txBox="true"/>
          <p:nvPr/>
        </p:nvSpPr>
        <p:spPr>
          <a:xfrm rot="0">
            <a:off x="1595482" y="1810230"/>
            <a:ext cx="7548518" cy="1228725"/>
          </a:xfrm>
          <a:prstGeom prst="rect">
            <a:avLst/>
          </a:prstGeom>
        </p:spPr>
        <p:txBody>
          <a:bodyPr anchor="t" rtlCol="false" tIns="0" lIns="0" bIns="0" rIns="0">
            <a:spAutoFit/>
          </a:bodyPr>
          <a:lstStyle/>
          <a:p>
            <a:pPr algn="l">
              <a:lnSpc>
                <a:spcPts val="9119"/>
              </a:lnSpc>
            </a:pPr>
            <a:r>
              <a:rPr lang="en-US" sz="9600" spc="-172">
                <a:solidFill>
                  <a:srgbClr val="566660"/>
                </a:solidFill>
                <a:latin typeface="League Spartan"/>
                <a:ea typeface="League Spartan"/>
                <a:cs typeface="League Spartan"/>
                <a:sym typeface="League Spartan"/>
              </a:rPr>
              <a:t>EKTRAKSI</a:t>
            </a:r>
          </a:p>
        </p:txBody>
      </p:sp>
      <p:sp>
        <p:nvSpPr>
          <p:cNvPr name="TextBox 5" id="5"/>
          <p:cNvSpPr txBox="true"/>
          <p:nvPr/>
        </p:nvSpPr>
        <p:spPr>
          <a:xfrm rot="0">
            <a:off x="1595482" y="3124990"/>
            <a:ext cx="7548518" cy="1238250"/>
          </a:xfrm>
          <a:prstGeom prst="rect">
            <a:avLst/>
          </a:prstGeom>
        </p:spPr>
        <p:txBody>
          <a:bodyPr anchor="t" rtlCol="false" tIns="0" lIns="0" bIns="0" rIns="0">
            <a:spAutoFit/>
          </a:bodyPr>
          <a:lstStyle/>
          <a:p>
            <a:pPr algn="l">
              <a:lnSpc>
                <a:spcPts val="9119"/>
              </a:lnSpc>
            </a:pPr>
            <a:r>
              <a:rPr lang="en-US" sz="9600" spc="-768">
                <a:solidFill>
                  <a:srgbClr val="566660"/>
                </a:solidFill>
                <a:latin typeface="Museo Moderno"/>
                <a:ea typeface="Museo Moderno"/>
                <a:cs typeface="Museo Moderno"/>
                <a:sym typeface="Museo Moderno"/>
              </a:rPr>
              <a:t>TEXTURE</a:t>
            </a:r>
          </a:p>
        </p:txBody>
      </p:sp>
      <p:sp>
        <p:nvSpPr>
          <p:cNvPr name="TextBox 6" id="6"/>
          <p:cNvSpPr txBox="true"/>
          <p:nvPr/>
        </p:nvSpPr>
        <p:spPr>
          <a:xfrm rot="0">
            <a:off x="1595482" y="4306090"/>
            <a:ext cx="6765617" cy="4676140"/>
          </a:xfrm>
          <a:prstGeom prst="rect">
            <a:avLst/>
          </a:prstGeom>
        </p:spPr>
        <p:txBody>
          <a:bodyPr anchor="t" rtlCol="false" tIns="0" lIns="0" bIns="0" rIns="0">
            <a:spAutoFit/>
          </a:bodyPr>
          <a:lstStyle/>
          <a:p>
            <a:pPr algn="just">
              <a:lnSpc>
                <a:spcPts val="2660"/>
              </a:lnSpc>
            </a:pPr>
            <a:r>
              <a:rPr lang="en-US" sz="1900">
                <a:solidFill>
                  <a:srgbClr val="2C4A24"/>
                </a:solidFill>
                <a:latin typeface="Poppins"/>
                <a:ea typeface="Poppins"/>
                <a:cs typeface="Poppins"/>
                <a:sym typeface="Poppins"/>
              </a:rPr>
              <a:t>Ekstraksi fitur tekstur adalah proses untuk mengambil informasi pola permukaan dari sebuah citra, seperti kasar, halus, berulang, atau tidak beraturan. Tekstur menggambarkan bagaimana intensitas piksel tersebar dan berhubungan satu sama lain dalam suatu gambar. Dalam pengolahan citra, ekstraksi tekstur sering digunakan untuk membedakan objek berdasarkan pola visualnya. Salah satu metode yang umum digunakan adalah Gray Level Co-occurrence Matrix (GLCM), yang menghasilkan fitur seperti energi, kontras, korelasi, dan homogenitas untuk merepresentasikan karakteristik tekstur secara numerik sehingga dapat digunakan dalam analisis atau klasifikasi.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2744659" y="2916832"/>
            <a:ext cx="12798681" cy="2914813"/>
          </a:xfrm>
          <a:custGeom>
            <a:avLst/>
            <a:gdLst/>
            <a:ahLst/>
            <a:cxnLst/>
            <a:rect r="r" b="b" t="t" l="l"/>
            <a:pathLst>
              <a:path h="2914813" w="12798681">
                <a:moveTo>
                  <a:pt x="0" y="0"/>
                </a:moveTo>
                <a:lnTo>
                  <a:pt x="12798682" y="0"/>
                </a:lnTo>
                <a:lnTo>
                  <a:pt x="12798682" y="2914814"/>
                </a:lnTo>
                <a:lnTo>
                  <a:pt x="0" y="2914814"/>
                </a:lnTo>
                <a:lnTo>
                  <a:pt x="0" y="0"/>
                </a:lnTo>
                <a:close/>
              </a:path>
            </a:pathLst>
          </a:custGeom>
          <a:blipFill>
            <a:blip r:embed="rId2"/>
            <a:stretch>
              <a:fillRect l="0" t="0" r="0" b="0"/>
            </a:stretch>
          </a:blipFill>
        </p:spPr>
      </p:sp>
      <p:sp>
        <p:nvSpPr>
          <p:cNvPr name="TextBox 3" id="3"/>
          <p:cNvSpPr txBox="true"/>
          <p:nvPr/>
        </p:nvSpPr>
        <p:spPr>
          <a:xfrm rot="0">
            <a:off x="4750668" y="468794"/>
            <a:ext cx="8786664" cy="1616092"/>
          </a:xfrm>
          <a:prstGeom prst="rect">
            <a:avLst/>
          </a:prstGeom>
        </p:spPr>
        <p:txBody>
          <a:bodyPr anchor="t" rtlCol="false" tIns="0" lIns="0" bIns="0" rIns="0">
            <a:spAutoFit/>
          </a:bodyPr>
          <a:lstStyle/>
          <a:p>
            <a:pPr algn="ctr">
              <a:lnSpc>
                <a:spcPts val="6175"/>
              </a:lnSpc>
            </a:pPr>
            <a:r>
              <a:rPr lang="en-US" sz="6500" spc="-117">
                <a:solidFill>
                  <a:srgbClr val="566660"/>
                </a:solidFill>
                <a:latin typeface="League Spartan"/>
                <a:ea typeface="League Spartan"/>
                <a:cs typeface="League Spartan"/>
                <a:sym typeface="League Spartan"/>
              </a:rPr>
              <a:t>IMPORT DAN INSTALL LIBRARY</a:t>
            </a:r>
          </a:p>
        </p:txBody>
      </p:sp>
      <p:sp>
        <p:nvSpPr>
          <p:cNvPr name="TextBox 4" id="4"/>
          <p:cNvSpPr txBox="true"/>
          <p:nvPr/>
        </p:nvSpPr>
        <p:spPr>
          <a:xfrm rot="0">
            <a:off x="2744659" y="5974041"/>
            <a:ext cx="12798681" cy="2009140"/>
          </a:xfrm>
          <a:prstGeom prst="rect">
            <a:avLst/>
          </a:prstGeom>
        </p:spPr>
        <p:txBody>
          <a:bodyPr anchor="t" rtlCol="false" tIns="0" lIns="0" bIns="0" rIns="0">
            <a:spAutoFit/>
          </a:bodyPr>
          <a:lstStyle/>
          <a:p>
            <a:pPr algn="just">
              <a:lnSpc>
                <a:spcPts val="2660"/>
              </a:lnSpc>
            </a:pPr>
            <a:r>
              <a:rPr lang="en-US" sz="1900">
                <a:solidFill>
                  <a:srgbClr val="2C4A24"/>
                </a:solidFill>
                <a:latin typeface="Poppins"/>
                <a:ea typeface="Poppins"/>
                <a:cs typeface="Poppins"/>
                <a:sym typeface="Poppins"/>
              </a:rPr>
              <a:t>Kode pada gambar tersebut digunakan untuk menghubungkan (mount) Google Drive ke Google Colab agar file yang ada di Drive dapat diakses langsung. Baris drive.mount('/content/drive') berfungsi sebagai titik akses penyimpanan, sehingga dataset atau file lain di Google Drive bisa digunakan dalam proses pengolahan data. Pesan “Mounted at /content/drive” menunjukkan bahwa proses koneksi berhasil dan Google Drive sudah siap digunakan di dalam lingkungan Colab.</a:t>
            </a:r>
          </a:p>
          <a:p>
            <a:pPr algn="just">
              <a:lnSpc>
                <a:spcPts val="266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6914838" y="3240340"/>
            <a:ext cx="9726815" cy="5579184"/>
            <a:chOff x="0" y="0"/>
            <a:chExt cx="7981950" cy="4578350"/>
          </a:xfrm>
        </p:grpSpPr>
        <p:sp>
          <p:nvSpPr>
            <p:cNvPr name="Freeform 3" id="3"/>
            <p:cNvSpPr/>
            <p:nvPr/>
          </p:nvSpPr>
          <p:spPr>
            <a:xfrm flipH="false" flipV="false" rot="0">
              <a:off x="765810" y="21590"/>
              <a:ext cx="6451600" cy="4326890"/>
            </a:xfrm>
            <a:custGeom>
              <a:avLst/>
              <a:gdLst/>
              <a:ahLst/>
              <a:cxnLst/>
              <a:rect r="r" b="b" t="t" l="l"/>
              <a:pathLst>
                <a:path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sp>
        <p:sp>
          <p:nvSpPr>
            <p:cNvPr name="Freeform 4" id="4"/>
            <p:cNvSpPr/>
            <p:nvPr/>
          </p:nvSpPr>
          <p:spPr>
            <a:xfrm flipH="false" flipV="false" rot="0">
              <a:off x="0" y="0"/>
              <a:ext cx="7981950" cy="4542790"/>
            </a:xfrm>
            <a:custGeom>
              <a:avLst/>
              <a:gdLst/>
              <a:ahLst/>
              <a:cxnLst/>
              <a:rect r="r" b="b" t="t" l="l"/>
              <a:pathLst>
                <a:path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sp>
        <p:sp>
          <p:nvSpPr>
            <p:cNvPr name="Freeform 5" id="5"/>
            <p:cNvSpPr/>
            <p:nvPr/>
          </p:nvSpPr>
          <p:spPr>
            <a:xfrm flipH="false" flipV="false" rot="0">
              <a:off x="3460750" y="4349750"/>
              <a:ext cx="1059180" cy="96520"/>
            </a:xfrm>
            <a:custGeom>
              <a:avLst/>
              <a:gdLst/>
              <a:ahLst/>
              <a:cxnLst/>
              <a:rect r="r" b="b" t="t" l="l"/>
              <a:pathLst>
                <a:path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sp>
        <p:sp>
          <p:nvSpPr>
            <p:cNvPr name="Freeform 6" id="6"/>
            <p:cNvSpPr/>
            <p:nvPr/>
          </p:nvSpPr>
          <p:spPr>
            <a:xfrm flipH="false" flipV="false" rot="0">
              <a:off x="163830" y="4542790"/>
              <a:ext cx="7654290" cy="35560"/>
            </a:xfrm>
            <a:custGeom>
              <a:avLst/>
              <a:gdLst/>
              <a:ahLst/>
              <a:cxnLst/>
              <a:rect r="r" b="b" t="t" l="l"/>
              <a:pathLst>
                <a:path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sp>
        <p:sp>
          <p:nvSpPr>
            <p:cNvPr name="Freeform 7" id="7"/>
            <p:cNvSpPr/>
            <p:nvPr/>
          </p:nvSpPr>
          <p:spPr>
            <a:xfrm flipH="false" flipV="false" rot="0">
              <a:off x="962660" y="276860"/>
              <a:ext cx="6055360" cy="3789680"/>
            </a:xfrm>
            <a:custGeom>
              <a:avLst/>
              <a:gdLst/>
              <a:ahLst/>
              <a:cxnLst/>
              <a:rect r="r" b="b" t="t" l="l"/>
              <a:pathLst>
                <a:path h="3789680" w="6055360">
                  <a:moveTo>
                    <a:pt x="0" y="0"/>
                  </a:moveTo>
                  <a:lnTo>
                    <a:pt x="6055360" y="0"/>
                  </a:lnTo>
                  <a:lnTo>
                    <a:pt x="6055360" y="3789680"/>
                  </a:lnTo>
                  <a:lnTo>
                    <a:pt x="0" y="3789680"/>
                  </a:lnTo>
                  <a:close/>
                </a:path>
              </a:pathLst>
            </a:custGeom>
            <a:blipFill>
              <a:blip r:embed="rId2"/>
              <a:stretch>
                <a:fillRect l="-1601" t="0" r="-1601" b="0"/>
              </a:stretch>
            </a:blipFill>
          </p:spPr>
        </p:sp>
      </p:grpSp>
      <p:sp>
        <p:nvSpPr>
          <p:cNvPr name="TextBox 8" id="8"/>
          <p:cNvSpPr txBox="true"/>
          <p:nvPr/>
        </p:nvSpPr>
        <p:spPr>
          <a:xfrm rot="0">
            <a:off x="1688209" y="1257300"/>
            <a:ext cx="15965284" cy="1228725"/>
          </a:xfrm>
          <a:prstGeom prst="rect">
            <a:avLst/>
          </a:prstGeom>
        </p:spPr>
        <p:txBody>
          <a:bodyPr anchor="t" rtlCol="false" tIns="0" lIns="0" bIns="0" rIns="0">
            <a:spAutoFit/>
          </a:bodyPr>
          <a:lstStyle/>
          <a:p>
            <a:pPr algn="ctr">
              <a:lnSpc>
                <a:spcPts val="9119"/>
              </a:lnSpc>
            </a:pPr>
            <a:r>
              <a:rPr lang="en-US" sz="9600" spc="-172">
                <a:solidFill>
                  <a:srgbClr val="566660"/>
                </a:solidFill>
                <a:latin typeface="League Spartan"/>
                <a:ea typeface="League Spartan"/>
                <a:cs typeface="League Spartan"/>
                <a:sym typeface="League Spartan"/>
              </a:rPr>
              <a:t>PEMBACAAN DATA SET</a:t>
            </a:r>
          </a:p>
        </p:txBody>
      </p:sp>
      <p:sp>
        <p:nvSpPr>
          <p:cNvPr name="TextBox 9" id="9"/>
          <p:cNvSpPr txBox="true"/>
          <p:nvPr/>
        </p:nvSpPr>
        <p:spPr>
          <a:xfrm rot="0">
            <a:off x="1688209" y="3456392"/>
            <a:ext cx="5771876" cy="4676140"/>
          </a:xfrm>
          <a:prstGeom prst="rect">
            <a:avLst/>
          </a:prstGeom>
        </p:spPr>
        <p:txBody>
          <a:bodyPr anchor="t" rtlCol="false" tIns="0" lIns="0" bIns="0" rIns="0">
            <a:spAutoFit/>
          </a:bodyPr>
          <a:lstStyle/>
          <a:p>
            <a:pPr algn="just">
              <a:lnSpc>
                <a:spcPts val="2660"/>
              </a:lnSpc>
            </a:pPr>
            <a:r>
              <a:rPr lang="en-US" sz="1900">
                <a:solidFill>
                  <a:srgbClr val="2C4A24"/>
                </a:solidFill>
                <a:latin typeface="Poppins"/>
                <a:ea typeface="Poppins"/>
                <a:cs typeface="Poppins"/>
                <a:sym typeface="Poppins"/>
              </a:rPr>
              <a:t>mengakses dan menampilkan daftar file yang terdapat dalam folder dataset di Google Drive. Pertama, library os digunakan untuk mengelola direktori, kemudian ditentukan lokasi folder melalui variabel folder_path. Selanjutnya, direktori kerja diubah ke folder tersebut menggunakan os.chdir(). Program kemudian melakukan perulangan untuk membaca seluruh isi folder dan mencetak nama setiap file yang ditemukan, baik file gambar maupun file lainnya seperti .xlsx. Output yang ditampilkan menunjukkan daftar nama file citra yang akan digunakan dalam proses pengolahan selanjutnya.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56425"/>
            <a:ext cx="8560875" cy="3540128"/>
          </a:xfrm>
          <a:custGeom>
            <a:avLst/>
            <a:gdLst/>
            <a:ahLst/>
            <a:cxnLst/>
            <a:rect r="r" b="b" t="t" l="l"/>
            <a:pathLst>
              <a:path h="3540128" w="8560875">
                <a:moveTo>
                  <a:pt x="0" y="0"/>
                </a:moveTo>
                <a:lnTo>
                  <a:pt x="8560875" y="0"/>
                </a:lnTo>
                <a:lnTo>
                  <a:pt x="8560875" y="3540128"/>
                </a:lnTo>
                <a:lnTo>
                  <a:pt x="0" y="3540128"/>
                </a:lnTo>
                <a:lnTo>
                  <a:pt x="0" y="0"/>
                </a:lnTo>
                <a:close/>
              </a:path>
            </a:pathLst>
          </a:custGeom>
          <a:blipFill>
            <a:blip r:embed="rId2"/>
            <a:stretch>
              <a:fillRect l="0" t="0" r="0" b="0"/>
            </a:stretch>
          </a:blipFill>
        </p:spPr>
      </p:sp>
      <p:sp>
        <p:nvSpPr>
          <p:cNvPr name="TextBox 3" id="3"/>
          <p:cNvSpPr txBox="true"/>
          <p:nvPr/>
        </p:nvSpPr>
        <p:spPr>
          <a:xfrm rot="0">
            <a:off x="1028700" y="4541040"/>
            <a:ext cx="6392664" cy="5009515"/>
          </a:xfrm>
          <a:prstGeom prst="rect">
            <a:avLst/>
          </a:prstGeom>
        </p:spPr>
        <p:txBody>
          <a:bodyPr anchor="t" rtlCol="false" tIns="0" lIns="0" bIns="0" rIns="0">
            <a:spAutoFit/>
          </a:bodyPr>
          <a:lstStyle/>
          <a:p>
            <a:pPr algn="just">
              <a:lnSpc>
                <a:spcPts val="2660"/>
              </a:lnSpc>
            </a:pPr>
            <a:r>
              <a:rPr lang="en-US" sz="1900">
                <a:solidFill>
                  <a:srgbClr val="2C4A24"/>
                </a:solidFill>
                <a:latin typeface="Poppins"/>
                <a:ea typeface="Poppins"/>
                <a:cs typeface="Poppins"/>
                <a:sym typeface="Poppins"/>
              </a:rPr>
              <a:t>Kode pada gambar tersebut digunakan untuk mengubah (konversi) citra berwarna menjadi citra grayscale menggunakan OpenCV. Pertama, ditentukan lokasi folder yang berisi dataset citra. Kemudian program melakukan perulangan untuk membaca setiap file gambar dengan ekstensi .jpg, .jpeg, dan .png. Setiap gambar dibaca menggunakan cv2.imread(), lalu dikonversi dari format BGR ke grayscale menggunakan cv2.cvtColor(). Hasil konversi kemudian disimpan kembali ke dalam folder yang sama dengan nama file baru yang diawali dengan “grayscale_”. Proses ini bertujuan untuk menyederhanakan informasi citra sehingga lebih mudah digunakan dalam analisis tekstur pada tahap selanjutnya.</a:t>
            </a:r>
          </a:p>
        </p:txBody>
      </p:sp>
      <p:sp>
        <p:nvSpPr>
          <p:cNvPr name="TextBox 4" id="4"/>
          <p:cNvSpPr txBox="true"/>
          <p:nvPr/>
        </p:nvSpPr>
        <p:spPr>
          <a:xfrm rot="0">
            <a:off x="10224229" y="1626427"/>
            <a:ext cx="7548518" cy="1228725"/>
          </a:xfrm>
          <a:prstGeom prst="rect">
            <a:avLst/>
          </a:prstGeom>
        </p:spPr>
        <p:txBody>
          <a:bodyPr anchor="t" rtlCol="false" tIns="0" lIns="0" bIns="0" rIns="0">
            <a:spAutoFit/>
          </a:bodyPr>
          <a:lstStyle/>
          <a:p>
            <a:pPr algn="l">
              <a:lnSpc>
                <a:spcPts val="9119"/>
              </a:lnSpc>
            </a:pPr>
            <a:r>
              <a:rPr lang="en-US" sz="9600" spc="-172">
                <a:solidFill>
                  <a:srgbClr val="566660"/>
                </a:solidFill>
                <a:latin typeface="League Spartan"/>
                <a:ea typeface="League Spartan"/>
                <a:cs typeface="League Spartan"/>
                <a:sym typeface="League Spartan"/>
              </a:rPr>
              <a:t>EKSTRAK</a:t>
            </a:r>
          </a:p>
        </p:txBody>
      </p:sp>
      <p:sp>
        <p:nvSpPr>
          <p:cNvPr name="TextBox 5" id="5"/>
          <p:cNvSpPr txBox="true"/>
          <p:nvPr/>
        </p:nvSpPr>
        <p:spPr>
          <a:xfrm rot="0">
            <a:off x="8172443" y="4633913"/>
            <a:ext cx="7548518" cy="1238250"/>
          </a:xfrm>
          <a:prstGeom prst="rect">
            <a:avLst/>
          </a:prstGeom>
        </p:spPr>
        <p:txBody>
          <a:bodyPr anchor="t" rtlCol="false" tIns="0" lIns="0" bIns="0" rIns="0">
            <a:spAutoFit/>
          </a:bodyPr>
          <a:lstStyle/>
          <a:p>
            <a:pPr algn="l">
              <a:lnSpc>
                <a:spcPts val="9119"/>
              </a:lnSpc>
            </a:pPr>
            <a:r>
              <a:rPr lang="en-US" sz="9600" spc="-768">
                <a:solidFill>
                  <a:srgbClr val="566660"/>
                </a:solidFill>
                <a:latin typeface="Museo Moderno"/>
                <a:ea typeface="Museo Moderno"/>
                <a:cs typeface="Museo Moderno"/>
                <a:sym typeface="Museo Moderno"/>
              </a:rPr>
              <a:t>TEXTURE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7362596" y="3851514"/>
            <a:ext cx="10476770" cy="5406786"/>
            <a:chOff x="0" y="0"/>
            <a:chExt cx="1623126" cy="837653"/>
          </a:xfrm>
        </p:grpSpPr>
        <p:sp>
          <p:nvSpPr>
            <p:cNvPr name="Freeform 3" id="3"/>
            <p:cNvSpPr/>
            <p:nvPr/>
          </p:nvSpPr>
          <p:spPr>
            <a:xfrm flipH="false" flipV="false" rot="0">
              <a:off x="0" y="0"/>
              <a:ext cx="1623126" cy="837653"/>
            </a:xfrm>
            <a:custGeom>
              <a:avLst/>
              <a:gdLst/>
              <a:ahLst/>
              <a:cxnLst/>
              <a:rect r="r" b="b" t="t" l="l"/>
              <a:pathLst>
                <a:path h="837653" w="1623126">
                  <a:moveTo>
                    <a:pt x="5912" y="0"/>
                  </a:moveTo>
                  <a:lnTo>
                    <a:pt x="1617214" y="0"/>
                  </a:lnTo>
                  <a:cubicBezTo>
                    <a:pt x="1620479" y="0"/>
                    <a:pt x="1623126" y="2647"/>
                    <a:pt x="1623126" y="5912"/>
                  </a:cubicBezTo>
                  <a:lnTo>
                    <a:pt x="1623126" y="831741"/>
                  </a:lnTo>
                  <a:cubicBezTo>
                    <a:pt x="1623126" y="835006"/>
                    <a:pt x="1620479" y="837653"/>
                    <a:pt x="1617214" y="837653"/>
                  </a:cubicBezTo>
                  <a:lnTo>
                    <a:pt x="5912" y="837653"/>
                  </a:lnTo>
                  <a:cubicBezTo>
                    <a:pt x="2647" y="837653"/>
                    <a:pt x="0" y="835006"/>
                    <a:pt x="0" y="831741"/>
                  </a:cubicBezTo>
                  <a:lnTo>
                    <a:pt x="0" y="5912"/>
                  </a:lnTo>
                  <a:cubicBezTo>
                    <a:pt x="0" y="2647"/>
                    <a:pt x="2647" y="0"/>
                    <a:pt x="5912" y="0"/>
                  </a:cubicBezTo>
                  <a:close/>
                </a:path>
              </a:pathLst>
            </a:custGeom>
            <a:blipFill>
              <a:blip r:embed="rId2"/>
              <a:stretch>
                <a:fillRect l="0" t="-17698" r="0" b="-17698"/>
              </a:stretch>
            </a:blipFill>
            <a:ln cap="sq">
              <a:noFill/>
              <a:prstDash val="solid"/>
              <a:miter/>
            </a:ln>
          </p:spPr>
        </p:sp>
      </p:grpSp>
      <p:sp>
        <p:nvSpPr>
          <p:cNvPr name="TextBox 4" id="4"/>
          <p:cNvSpPr txBox="true"/>
          <p:nvPr/>
        </p:nvSpPr>
        <p:spPr>
          <a:xfrm rot="0">
            <a:off x="1028700" y="5255462"/>
            <a:ext cx="8708564" cy="1228725"/>
          </a:xfrm>
          <a:prstGeom prst="rect">
            <a:avLst/>
          </a:prstGeom>
        </p:spPr>
        <p:txBody>
          <a:bodyPr anchor="t" rtlCol="false" tIns="0" lIns="0" bIns="0" rIns="0">
            <a:spAutoFit/>
          </a:bodyPr>
          <a:lstStyle/>
          <a:p>
            <a:pPr algn="l">
              <a:lnSpc>
                <a:spcPts val="9119"/>
              </a:lnSpc>
            </a:pPr>
            <a:r>
              <a:rPr lang="en-US" sz="9600" spc="-172">
                <a:solidFill>
                  <a:srgbClr val="566660"/>
                </a:solidFill>
                <a:latin typeface="League Spartan"/>
                <a:ea typeface="League Spartan"/>
                <a:cs typeface="League Spartan"/>
                <a:sym typeface="League Spartan"/>
              </a:rPr>
              <a:t>EKSTRAK</a:t>
            </a:r>
          </a:p>
        </p:txBody>
      </p:sp>
      <p:sp>
        <p:nvSpPr>
          <p:cNvPr name="TextBox 5" id="5"/>
          <p:cNvSpPr txBox="true"/>
          <p:nvPr/>
        </p:nvSpPr>
        <p:spPr>
          <a:xfrm rot="0">
            <a:off x="1028700" y="6492462"/>
            <a:ext cx="7548518" cy="1238250"/>
          </a:xfrm>
          <a:prstGeom prst="rect">
            <a:avLst/>
          </a:prstGeom>
        </p:spPr>
        <p:txBody>
          <a:bodyPr anchor="t" rtlCol="false" tIns="0" lIns="0" bIns="0" rIns="0">
            <a:spAutoFit/>
          </a:bodyPr>
          <a:lstStyle/>
          <a:p>
            <a:pPr algn="l">
              <a:lnSpc>
                <a:spcPts val="9119"/>
              </a:lnSpc>
            </a:pPr>
            <a:r>
              <a:rPr lang="en-US" sz="9600" spc="-768">
                <a:solidFill>
                  <a:srgbClr val="566660"/>
                </a:solidFill>
                <a:latin typeface="Museo Moderno"/>
                <a:ea typeface="Museo Moderno"/>
                <a:cs typeface="Museo Moderno"/>
                <a:sym typeface="Museo Moderno"/>
              </a:rPr>
              <a:t>FITURE</a:t>
            </a:r>
          </a:p>
        </p:txBody>
      </p:sp>
      <p:sp>
        <p:nvSpPr>
          <p:cNvPr name="TextBox 6" id="6"/>
          <p:cNvSpPr txBox="true"/>
          <p:nvPr/>
        </p:nvSpPr>
        <p:spPr>
          <a:xfrm rot="0">
            <a:off x="1028700" y="788378"/>
            <a:ext cx="17035519" cy="2342515"/>
          </a:xfrm>
          <a:prstGeom prst="rect">
            <a:avLst/>
          </a:prstGeom>
        </p:spPr>
        <p:txBody>
          <a:bodyPr anchor="t" rtlCol="false" tIns="0" lIns="0" bIns="0" rIns="0">
            <a:spAutoFit/>
          </a:bodyPr>
          <a:lstStyle/>
          <a:p>
            <a:pPr algn="just">
              <a:lnSpc>
                <a:spcPts val="2660"/>
              </a:lnSpc>
            </a:pPr>
            <a:r>
              <a:rPr lang="en-US" sz="1900">
                <a:solidFill>
                  <a:srgbClr val="2C4A24"/>
                </a:solidFill>
                <a:latin typeface="Poppins"/>
                <a:ea typeface="Poppins"/>
                <a:cs typeface="Poppins"/>
                <a:sym typeface="Poppins"/>
              </a:rPr>
              <a:t>Kode pada gambar tersebut digunakan untuk melakukan ekstraksi fitur tekstur pada citra menggunakan metode GLCM (Gray Level Co-occurrence Matrix). Pertama, dilakukan import berbagai library seperti OpenCV, NumPy, dan skimage untuk pengolahan citra serta perhitungan fitur tekstur. Program kemudian membaca setiap gambar dari folder dataset, lalu mengonversinya ke grayscale agar analisis tekstur lebih optimal. Selanjutnya dihitung matriks GLCM dengan beberapa sudut orientasi, yang digunakan untuk mengekstraksi fitur tekstur seperti energi, kontras, korelasi, dan homogenitas. Nilai-nilai fitur tersebut kemudian disimpan ke dalam array nilai_fitur dan juga ditampilkan ke layar untuk setiap gambar. Proses ini bertujuan untuk merepresentasikan karakteristik tekstur citra dalam bentuk numerik yang dapat digunakan untuk analisis atau klasifikasi lebih lanjut.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6979180" y="2852788"/>
            <a:ext cx="10442767" cy="5268423"/>
          </a:xfrm>
          <a:custGeom>
            <a:avLst/>
            <a:gdLst/>
            <a:ahLst/>
            <a:cxnLst/>
            <a:rect r="r" b="b" t="t" l="l"/>
            <a:pathLst>
              <a:path h="5268423" w="10442767">
                <a:moveTo>
                  <a:pt x="0" y="0"/>
                </a:moveTo>
                <a:lnTo>
                  <a:pt x="10442767" y="0"/>
                </a:lnTo>
                <a:lnTo>
                  <a:pt x="10442767" y="5268424"/>
                </a:lnTo>
                <a:lnTo>
                  <a:pt x="0" y="5268424"/>
                </a:lnTo>
                <a:lnTo>
                  <a:pt x="0" y="0"/>
                </a:lnTo>
                <a:close/>
              </a:path>
            </a:pathLst>
          </a:custGeom>
          <a:blipFill>
            <a:blip r:embed="rId2"/>
            <a:stretch>
              <a:fillRect l="0" t="0" r="0" b="0"/>
            </a:stretch>
          </a:blipFill>
        </p:spPr>
      </p:sp>
      <p:sp>
        <p:nvSpPr>
          <p:cNvPr name="TextBox 3" id="3"/>
          <p:cNvSpPr txBox="true"/>
          <p:nvPr/>
        </p:nvSpPr>
        <p:spPr>
          <a:xfrm rot="0">
            <a:off x="1161358" y="1106028"/>
            <a:ext cx="15965284" cy="1228725"/>
          </a:xfrm>
          <a:prstGeom prst="rect">
            <a:avLst/>
          </a:prstGeom>
        </p:spPr>
        <p:txBody>
          <a:bodyPr anchor="t" rtlCol="false" tIns="0" lIns="0" bIns="0" rIns="0">
            <a:spAutoFit/>
          </a:bodyPr>
          <a:lstStyle/>
          <a:p>
            <a:pPr algn="ctr">
              <a:lnSpc>
                <a:spcPts val="9119"/>
              </a:lnSpc>
            </a:pPr>
            <a:r>
              <a:rPr lang="en-US" sz="9600" spc="-172">
                <a:solidFill>
                  <a:srgbClr val="566660"/>
                </a:solidFill>
                <a:latin typeface="League Spartan"/>
                <a:ea typeface="League Spartan"/>
                <a:cs typeface="League Spartan"/>
                <a:sym typeface="League Spartan"/>
              </a:rPr>
              <a:t>SAVING FILE</a:t>
            </a:r>
          </a:p>
        </p:txBody>
      </p:sp>
      <p:sp>
        <p:nvSpPr>
          <p:cNvPr name="TextBox 4" id="4"/>
          <p:cNvSpPr txBox="true"/>
          <p:nvPr/>
        </p:nvSpPr>
        <p:spPr>
          <a:xfrm rot="0">
            <a:off x="866053" y="2795638"/>
            <a:ext cx="5771876" cy="6676390"/>
          </a:xfrm>
          <a:prstGeom prst="rect">
            <a:avLst/>
          </a:prstGeom>
        </p:spPr>
        <p:txBody>
          <a:bodyPr anchor="t" rtlCol="false" tIns="0" lIns="0" bIns="0" rIns="0">
            <a:spAutoFit/>
          </a:bodyPr>
          <a:lstStyle/>
          <a:p>
            <a:pPr algn="just">
              <a:lnSpc>
                <a:spcPts val="2660"/>
              </a:lnSpc>
            </a:pPr>
            <a:r>
              <a:rPr lang="en-US" sz="1900">
                <a:solidFill>
                  <a:srgbClr val="2C4A24"/>
                </a:solidFill>
                <a:latin typeface="Poppins"/>
                <a:ea typeface="Poppins"/>
                <a:cs typeface="Poppins"/>
                <a:sym typeface="Poppins"/>
              </a:rPr>
              <a:t>Kode pada gambar tersebut digunakan untuk menyimpan hasil ekstraksi fitur tekstur ke dalam file Excel dan menampilkannya kembali. Pertama, ditentukan nama kolom seperti Nama File, Energi, Kontras, Korelasi, dan Homogenitas, kemudian data hasil ekstraksi (nilai_fitur) diubah menjadi DataFrame menggunakan Pandas. Selanjutnya, DataFrame tersebut disimpan ke dalam file Excel dengan nama 2318081_HasilEkstraksiFitur.xlsx. Setelah file berhasil disimpan, program membaca kembali file tersebut menggunakan pd.read_excel() dan menampilkan isinya ke layar. Proses ini bertujuan agar hasil ekstraksi dapat terdokumentasi dengan baik dan mudah digunakan untuk analisis lanjutan.</a:t>
            </a:r>
          </a:p>
          <a:p>
            <a:pPr algn="just">
              <a:lnSpc>
                <a:spcPts val="2660"/>
              </a:lnSpc>
            </a:pPr>
          </a:p>
          <a:p>
            <a:pPr algn="just">
              <a:lnSpc>
                <a:spcPts val="2660"/>
              </a:lnSpc>
            </a:pPr>
          </a:p>
          <a:p>
            <a:pPr algn="just">
              <a:lnSpc>
                <a:spcPts val="2660"/>
              </a:lnSpc>
            </a:pPr>
          </a:p>
          <a:p>
            <a:pPr algn="just">
              <a:lnSpc>
                <a:spcPts val="2660"/>
              </a:lnSpc>
            </a:pP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6458874" y="4192134"/>
            <a:ext cx="5370251" cy="1228725"/>
          </a:xfrm>
          <a:prstGeom prst="rect">
            <a:avLst/>
          </a:prstGeom>
        </p:spPr>
        <p:txBody>
          <a:bodyPr anchor="t" rtlCol="false" tIns="0" lIns="0" bIns="0" rIns="0">
            <a:spAutoFit/>
          </a:bodyPr>
          <a:lstStyle/>
          <a:p>
            <a:pPr algn="l">
              <a:lnSpc>
                <a:spcPts val="9119"/>
              </a:lnSpc>
            </a:pPr>
            <a:r>
              <a:rPr lang="en-US" sz="9600" spc="-172">
                <a:solidFill>
                  <a:srgbClr val="566660"/>
                </a:solidFill>
                <a:latin typeface="League Spartan"/>
                <a:ea typeface="League Spartan"/>
                <a:cs typeface="League Spartan"/>
                <a:sym typeface="League Spartan"/>
              </a:rPr>
              <a:t>THANKS</a:t>
            </a:r>
          </a:p>
        </p:txBody>
      </p:sp>
      <p:sp>
        <p:nvSpPr>
          <p:cNvPr name="TextBox 3" id="3"/>
          <p:cNvSpPr txBox="true"/>
          <p:nvPr/>
        </p:nvSpPr>
        <p:spPr>
          <a:xfrm rot="0">
            <a:off x="8323891" y="5363709"/>
            <a:ext cx="1640218" cy="362069"/>
          </a:xfrm>
          <a:prstGeom prst="rect">
            <a:avLst/>
          </a:prstGeom>
        </p:spPr>
        <p:txBody>
          <a:bodyPr anchor="t" rtlCol="false" tIns="0" lIns="0" bIns="0" rIns="0">
            <a:spAutoFit/>
          </a:bodyPr>
          <a:lstStyle/>
          <a:p>
            <a:pPr algn="l">
              <a:lnSpc>
                <a:spcPts val="2817"/>
              </a:lnSpc>
            </a:pPr>
            <a:r>
              <a:rPr lang="en-US" sz="2012" spc="-120">
                <a:solidFill>
                  <a:srgbClr val="566660"/>
                </a:solidFill>
                <a:latin typeface="Poppins"/>
                <a:ea typeface="Poppins"/>
                <a:cs typeface="Poppins"/>
                <a:sym typeface="Poppins"/>
              </a:rPr>
              <a:t>presented by</a:t>
            </a:r>
          </a:p>
        </p:txBody>
      </p:sp>
      <p:sp>
        <p:nvSpPr>
          <p:cNvPr name="TextBox 4" id="4"/>
          <p:cNvSpPr txBox="true"/>
          <p:nvPr/>
        </p:nvSpPr>
        <p:spPr>
          <a:xfrm rot="0">
            <a:off x="8217953" y="6068545"/>
            <a:ext cx="1852094" cy="254921"/>
          </a:xfrm>
          <a:prstGeom prst="rect">
            <a:avLst/>
          </a:prstGeom>
        </p:spPr>
        <p:txBody>
          <a:bodyPr anchor="t" rtlCol="false" tIns="0" lIns="0" bIns="0" rIns="0">
            <a:spAutoFit/>
          </a:bodyPr>
          <a:lstStyle/>
          <a:p>
            <a:pPr algn="l">
              <a:lnSpc>
                <a:spcPts val="2012"/>
              </a:lnSpc>
            </a:pPr>
            <a:r>
              <a:rPr lang="en-US" sz="1437" spc="-71">
                <a:solidFill>
                  <a:srgbClr val="566660"/>
                </a:solidFill>
                <a:latin typeface="Poppins"/>
                <a:ea typeface="Poppins"/>
                <a:cs typeface="Poppins"/>
                <a:sym typeface="Poppins"/>
              </a:rPr>
              <a:t>Moch. Huda (2318081)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DAHF4jLI3eA</dc:identifier>
  <dcterms:modified xsi:type="dcterms:W3CDTF">2011-08-01T06:04:30Z</dcterms:modified>
  <cp:revision>1</cp:revision>
  <dc:title>Green and Grey Minimalist Aesthetic Project Proposal Presentation</dc:title>
</cp:coreProperties>
</file>